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8288000" cy="10287000"/>
  <p:notesSz cx="6858000" cy="9144000"/>
  <p:embeddedFontLst>
    <p:embeddedFont>
      <p:font typeface="Noto Sans Bold" charset="1" panose="020B0802040504020204"/>
      <p:regular r:id="rId21"/>
    </p:embeddedFont>
    <p:embeddedFont>
      <p:font typeface="Noto Sans" charset="1" panose="020B0502040504020204"/>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27.png" Type="http://schemas.openxmlformats.org/officeDocument/2006/relationships/image"/><Relationship Id="rId29" Target="../media/image28.svg" Type="http://schemas.openxmlformats.org/officeDocument/2006/relationships/image"/><Relationship Id="rId3" Target="../media/image2.svg" Type="http://schemas.openxmlformats.org/officeDocument/2006/relationships/image"/><Relationship Id="rId30" Target="../media/image29.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0.png" Type="http://schemas.openxmlformats.org/officeDocument/2006/relationships/image"/><Relationship Id="rId29" Target="../media/image31.png" Type="http://schemas.openxmlformats.org/officeDocument/2006/relationships/image"/><Relationship Id="rId3" Target="../media/image2.svg" Type="http://schemas.openxmlformats.org/officeDocument/2006/relationships/image"/><Relationship Id="rId30" Target="../media/image32.pn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3.png" Type="http://schemas.openxmlformats.org/officeDocument/2006/relationships/image"/><Relationship Id="rId29" Target="../media/image34.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5.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1.png" Type="http://schemas.openxmlformats.org/officeDocument/2006/relationships/image"/><Relationship Id="rId7" Target="../media/image22.svg" Type="http://schemas.openxmlformats.org/officeDocument/2006/relationships/image"/><Relationship Id="rId8" Target="../media/image25.png" Type="http://schemas.openxmlformats.org/officeDocument/2006/relationships/image"/><Relationship Id="rId9" Target="../media/image26.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3.png" Type="http://schemas.openxmlformats.org/officeDocument/2006/relationships/image"/><Relationship Id="rId5" Target="../media/image14.svg" Type="http://schemas.openxmlformats.org/officeDocument/2006/relationships/image"/><Relationship Id="rId6" Target="../media/image21.png" Type="http://schemas.openxmlformats.org/officeDocument/2006/relationships/image"/><Relationship Id="rId7" Target="../media/image22.svg" Type="http://schemas.openxmlformats.org/officeDocument/2006/relationships/image"/><Relationship Id="rId8" Target="../media/image25.png" Type="http://schemas.openxmlformats.org/officeDocument/2006/relationships/image"/><Relationship Id="rId9" Target="../media/image2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6.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7.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8.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28" Target="../media/image33.png" Type="http://schemas.openxmlformats.org/officeDocument/2006/relationships/image"/><Relationship Id="rId29" Target="../media/image34.svg" Type="http://schemas.openxmlformats.org/officeDocument/2006/relationships/image"/><Relationship Id="rId3" Target="../media/image2.svg" Type="http://schemas.openxmlformats.org/officeDocument/2006/relationships/image"/><Relationship Id="rId30" Target="../media/image39.png" Type="http://schemas.openxmlformats.org/officeDocument/2006/relationships/image"/><Relationship Id="rId31" Target="../media/image40.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12" Target="../media/image11.png" Type="http://schemas.openxmlformats.org/officeDocument/2006/relationships/image"/><Relationship Id="rId13" Target="../media/image12.svg" Type="http://schemas.openxmlformats.org/officeDocument/2006/relationships/image"/><Relationship Id="rId14" Target="../media/image13.png" Type="http://schemas.openxmlformats.org/officeDocument/2006/relationships/image"/><Relationship Id="rId15" Target="../media/image14.svg" Type="http://schemas.openxmlformats.org/officeDocument/2006/relationships/image"/><Relationship Id="rId16" Target="../media/image15.png" Type="http://schemas.openxmlformats.org/officeDocument/2006/relationships/image"/><Relationship Id="rId17" Target="../media/image16.svg" Type="http://schemas.openxmlformats.org/officeDocument/2006/relationships/image"/><Relationship Id="rId18" Target="../media/image17.png" Type="http://schemas.openxmlformats.org/officeDocument/2006/relationships/image"/><Relationship Id="rId19" Target="../media/image18.svg" Type="http://schemas.openxmlformats.org/officeDocument/2006/relationships/image"/><Relationship Id="rId2" Target="../media/image1.png" Type="http://schemas.openxmlformats.org/officeDocument/2006/relationships/image"/><Relationship Id="rId20" Target="../media/image19.png" Type="http://schemas.openxmlformats.org/officeDocument/2006/relationships/image"/><Relationship Id="rId21" Target="../media/image20.svg" Type="http://schemas.openxmlformats.org/officeDocument/2006/relationships/image"/><Relationship Id="rId22" Target="../media/image21.png" Type="http://schemas.openxmlformats.org/officeDocument/2006/relationships/image"/><Relationship Id="rId23" Target="../media/image22.svg" Type="http://schemas.openxmlformats.org/officeDocument/2006/relationships/image"/><Relationship Id="rId24" Target="../media/image23.png" Type="http://schemas.openxmlformats.org/officeDocument/2006/relationships/image"/><Relationship Id="rId25" Target="../media/image24.svg" Type="http://schemas.openxmlformats.org/officeDocument/2006/relationships/image"/><Relationship Id="rId26" Target="../media/image25.png" Type="http://schemas.openxmlformats.org/officeDocument/2006/relationships/image"/><Relationship Id="rId27" Target="../media/image26.sv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861489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30709" y="9258300"/>
            <a:ext cx="3059829" cy="751049"/>
          </a:xfrm>
          <a:custGeom>
            <a:avLst/>
            <a:gdLst/>
            <a:ahLst/>
            <a:cxnLst/>
            <a:rect r="r" b="b" t="t" l="l"/>
            <a:pathLst>
              <a:path h="751049" w="3059829">
                <a:moveTo>
                  <a:pt x="0" y="0"/>
                </a:moveTo>
                <a:lnTo>
                  <a:pt x="3059829" y="0"/>
                </a:lnTo>
                <a:lnTo>
                  <a:pt x="3059829" y="751049"/>
                </a:lnTo>
                <a:lnTo>
                  <a:pt x="0" y="75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215205" y="8540136"/>
            <a:ext cx="4602314" cy="3618569"/>
          </a:xfrm>
          <a:custGeom>
            <a:avLst/>
            <a:gdLst/>
            <a:ahLst/>
            <a:cxnLst/>
            <a:rect r="r" b="b" t="t" l="l"/>
            <a:pathLst>
              <a:path h="3618569" w="4602314">
                <a:moveTo>
                  <a:pt x="0" y="0"/>
                </a:moveTo>
                <a:lnTo>
                  <a:pt x="4602314" y="0"/>
                </a:lnTo>
                <a:lnTo>
                  <a:pt x="4602314" y="3618570"/>
                </a:lnTo>
                <a:lnTo>
                  <a:pt x="0" y="36185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674156" y="-1072630"/>
            <a:ext cx="4899948" cy="3068592"/>
          </a:xfrm>
          <a:custGeom>
            <a:avLst/>
            <a:gdLst/>
            <a:ahLst/>
            <a:cxnLst/>
            <a:rect r="r" b="b" t="t" l="l"/>
            <a:pathLst>
              <a:path h="3068592" w="4899948">
                <a:moveTo>
                  <a:pt x="0" y="0"/>
                </a:moveTo>
                <a:lnTo>
                  <a:pt x="4899948" y="0"/>
                </a:lnTo>
                <a:lnTo>
                  <a:pt x="4899948"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686214" y="-2578193"/>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09323" y="-2700100"/>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31481" y="-1626507"/>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259300" y="2262342"/>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09373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440369" y="6970869"/>
            <a:ext cx="3382987" cy="1154444"/>
          </a:xfrm>
          <a:custGeom>
            <a:avLst/>
            <a:gdLst/>
            <a:ahLst/>
            <a:cxnLst/>
            <a:rect r="r" b="b" t="t" l="l"/>
            <a:pathLst>
              <a:path h="1154444" w="3382987">
                <a:moveTo>
                  <a:pt x="0" y="0"/>
                </a:moveTo>
                <a:lnTo>
                  <a:pt x="3382987" y="0"/>
                </a:lnTo>
                <a:lnTo>
                  <a:pt x="3382987"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6978638" y="-642644"/>
            <a:ext cx="3104522" cy="3342688"/>
          </a:xfrm>
          <a:custGeom>
            <a:avLst/>
            <a:gdLst/>
            <a:ahLst/>
            <a:cxnLst/>
            <a:rect r="r" b="b" t="t" l="l"/>
            <a:pathLst>
              <a:path h="3342688" w="3104522">
                <a:moveTo>
                  <a:pt x="0" y="0"/>
                </a:moveTo>
                <a:lnTo>
                  <a:pt x="3104522" y="0"/>
                </a:lnTo>
                <a:lnTo>
                  <a:pt x="3104522" y="3342688"/>
                </a:lnTo>
                <a:lnTo>
                  <a:pt x="0" y="3342688"/>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3864059" y="954392"/>
            <a:ext cx="724985" cy="920616"/>
          </a:xfrm>
          <a:custGeom>
            <a:avLst/>
            <a:gdLst/>
            <a:ahLst/>
            <a:cxnLst/>
            <a:rect r="r" b="b" t="t" l="l"/>
            <a:pathLst>
              <a:path h="920616" w="724985">
                <a:moveTo>
                  <a:pt x="0" y="0"/>
                </a:moveTo>
                <a:lnTo>
                  <a:pt x="724985" y="0"/>
                </a:lnTo>
                <a:lnTo>
                  <a:pt x="724985" y="920616"/>
                </a:lnTo>
                <a:lnTo>
                  <a:pt x="0" y="920616"/>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6" id="16"/>
          <p:cNvSpPr/>
          <p:nvPr/>
        </p:nvSpPr>
        <p:spPr>
          <a:xfrm flipH="false" flipV="false" rot="0">
            <a:off x="11496370" y="2371030"/>
            <a:ext cx="5346362" cy="5952651"/>
          </a:xfrm>
          <a:custGeom>
            <a:avLst/>
            <a:gdLst/>
            <a:ahLst/>
            <a:cxnLst/>
            <a:rect r="r" b="b" t="t" l="l"/>
            <a:pathLst>
              <a:path h="5952651" w="5346362">
                <a:moveTo>
                  <a:pt x="0" y="0"/>
                </a:moveTo>
                <a:lnTo>
                  <a:pt x="5346363" y="0"/>
                </a:lnTo>
                <a:lnTo>
                  <a:pt x="5346363" y="5952650"/>
                </a:lnTo>
                <a:lnTo>
                  <a:pt x="0" y="5952650"/>
                </a:lnTo>
                <a:lnTo>
                  <a:pt x="0" y="0"/>
                </a:lnTo>
                <a:close/>
              </a:path>
            </a:pathLst>
          </a:custGeom>
          <a:blipFill>
            <a:blip r:embed="rId30"/>
            <a:stretch>
              <a:fillRect l="0" t="0" r="0" b="0"/>
            </a:stretch>
          </a:blipFill>
        </p:spPr>
      </p:sp>
      <p:sp>
        <p:nvSpPr>
          <p:cNvPr name="TextBox 17" id="17"/>
          <p:cNvSpPr txBox="true"/>
          <p:nvPr/>
        </p:nvSpPr>
        <p:spPr>
          <a:xfrm rot="0">
            <a:off x="1579668" y="2615353"/>
            <a:ext cx="11322713" cy="2340106"/>
          </a:xfrm>
          <a:prstGeom prst="rect">
            <a:avLst/>
          </a:prstGeom>
        </p:spPr>
        <p:txBody>
          <a:bodyPr anchor="t" rtlCol="false" tIns="0" lIns="0" bIns="0" rIns="0">
            <a:spAutoFit/>
          </a:bodyPr>
          <a:lstStyle/>
          <a:p>
            <a:pPr algn="l">
              <a:lnSpc>
                <a:spcPts val="9494"/>
              </a:lnSpc>
            </a:pPr>
            <a:r>
              <a:rPr lang="en-US" sz="6329" b="true">
                <a:solidFill>
                  <a:srgbClr val="000000"/>
                </a:solidFill>
                <a:latin typeface="Noto Sans Bold"/>
                <a:ea typeface="Noto Sans Bold"/>
                <a:cs typeface="Noto Sans Bold"/>
                <a:sym typeface="Noto Sans Bold"/>
              </a:rPr>
              <a:t>Trang web chơi cờ vua trực tuyến</a:t>
            </a:r>
          </a:p>
        </p:txBody>
      </p:sp>
      <p:sp>
        <p:nvSpPr>
          <p:cNvPr name="TextBox 18" id="18"/>
          <p:cNvSpPr txBox="true"/>
          <p:nvPr/>
        </p:nvSpPr>
        <p:spPr>
          <a:xfrm rot="0">
            <a:off x="1775818" y="5679625"/>
            <a:ext cx="8148019" cy="1455015"/>
          </a:xfrm>
          <a:prstGeom prst="rect">
            <a:avLst/>
          </a:prstGeom>
        </p:spPr>
        <p:txBody>
          <a:bodyPr anchor="t" rtlCol="false" tIns="0" lIns="0" bIns="0" rIns="0">
            <a:spAutoFit/>
          </a:bodyPr>
          <a:lstStyle/>
          <a:p>
            <a:pPr algn="l">
              <a:lnSpc>
                <a:spcPts val="5902"/>
              </a:lnSpc>
            </a:pPr>
            <a:r>
              <a:rPr lang="en-US" sz="4216">
                <a:solidFill>
                  <a:srgbClr val="000000"/>
                </a:solidFill>
                <a:latin typeface="Noto Sans"/>
                <a:ea typeface="Noto Sans"/>
                <a:cs typeface="Noto Sans"/>
                <a:sym typeface="Noto Sans"/>
              </a:rPr>
              <a:t>Họ Tên: Nguyễn Phạm Anh Phúc</a:t>
            </a:r>
          </a:p>
          <a:p>
            <a:pPr algn="l">
              <a:lnSpc>
                <a:spcPts val="5902"/>
              </a:lnSpc>
              <a:spcBef>
                <a:spcPct val="0"/>
              </a:spcBef>
            </a:pPr>
            <a:r>
              <a:rPr lang="en-US" sz="4216">
                <a:solidFill>
                  <a:srgbClr val="000000"/>
                </a:solidFill>
                <a:latin typeface="Noto Sans"/>
                <a:ea typeface="Noto Sans"/>
                <a:cs typeface="Noto Sans"/>
                <a:sym typeface="Noto Sans"/>
              </a:rPr>
              <a:t>MSV: B23DCCE078</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grpSp>
        <p:nvGrpSpPr>
          <p:cNvPr name="Group 15" id="15"/>
          <p:cNvGrpSpPr/>
          <p:nvPr/>
        </p:nvGrpSpPr>
        <p:grpSpPr>
          <a:xfrm rot="0">
            <a:off x="1686576" y="3418840"/>
            <a:ext cx="4368802" cy="4838087"/>
            <a:chOff x="0" y="0"/>
            <a:chExt cx="1150631" cy="1274229"/>
          </a:xfrm>
        </p:grpSpPr>
        <p:sp>
          <p:nvSpPr>
            <p:cNvPr name="Freeform 16" id="16"/>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17" id="17"/>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18" id="18"/>
          <p:cNvSpPr/>
          <p:nvPr/>
        </p:nvSpPr>
        <p:spPr>
          <a:xfrm flipH="false" flipV="false" rot="0">
            <a:off x="3027106" y="3797250"/>
            <a:ext cx="1687742" cy="2040633"/>
          </a:xfrm>
          <a:custGeom>
            <a:avLst/>
            <a:gdLst/>
            <a:ahLst/>
            <a:cxnLst/>
            <a:rect r="r" b="b" t="t" l="l"/>
            <a:pathLst>
              <a:path h="2040633" w="1687742">
                <a:moveTo>
                  <a:pt x="0" y="0"/>
                </a:moveTo>
                <a:lnTo>
                  <a:pt x="1687741" y="0"/>
                </a:lnTo>
                <a:lnTo>
                  <a:pt x="1687741" y="2040633"/>
                </a:lnTo>
                <a:lnTo>
                  <a:pt x="0" y="2040633"/>
                </a:lnTo>
                <a:lnTo>
                  <a:pt x="0" y="0"/>
                </a:lnTo>
                <a:close/>
              </a:path>
            </a:pathLst>
          </a:custGeom>
          <a:blipFill>
            <a:blip r:embed="rId28"/>
            <a:stretch>
              <a:fillRect l="0" t="0" r="0" b="0"/>
            </a:stretch>
          </a:blipFill>
        </p:spPr>
      </p:sp>
      <p:grpSp>
        <p:nvGrpSpPr>
          <p:cNvPr name="Group 19" id="19"/>
          <p:cNvGrpSpPr/>
          <p:nvPr/>
        </p:nvGrpSpPr>
        <p:grpSpPr>
          <a:xfrm rot="0">
            <a:off x="7203410" y="3418840"/>
            <a:ext cx="4368802" cy="4838087"/>
            <a:chOff x="0" y="0"/>
            <a:chExt cx="1150631" cy="1274229"/>
          </a:xfrm>
        </p:grpSpPr>
        <p:sp>
          <p:nvSpPr>
            <p:cNvPr name="Freeform 20" id="20"/>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21" id="21"/>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22" id="22"/>
          <p:cNvSpPr/>
          <p:nvPr/>
        </p:nvSpPr>
        <p:spPr>
          <a:xfrm flipH="false" flipV="false" rot="0">
            <a:off x="8392115" y="3511655"/>
            <a:ext cx="1991392" cy="2326228"/>
          </a:xfrm>
          <a:custGeom>
            <a:avLst/>
            <a:gdLst/>
            <a:ahLst/>
            <a:cxnLst/>
            <a:rect r="r" b="b" t="t" l="l"/>
            <a:pathLst>
              <a:path h="2326228" w="1991392">
                <a:moveTo>
                  <a:pt x="0" y="0"/>
                </a:moveTo>
                <a:lnTo>
                  <a:pt x="1991392" y="0"/>
                </a:lnTo>
                <a:lnTo>
                  <a:pt x="1991392" y="2326228"/>
                </a:lnTo>
                <a:lnTo>
                  <a:pt x="0" y="2326228"/>
                </a:lnTo>
                <a:lnTo>
                  <a:pt x="0" y="0"/>
                </a:lnTo>
                <a:close/>
              </a:path>
            </a:pathLst>
          </a:custGeom>
          <a:blipFill>
            <a:blip r:embed="rId29"/>
            <a:stretch>
              <a:fillRect l="0" t="0" r="0" b="0"/>
            </a:stretch>
          </a:blipFill>
        </p:spPr>
      </p:sp>
      <p:grpSp>
        <p:nvGrpSpPr>
          <p:cNvPr name="Group 23" id="23"/>
          <p:cNvGrpSpPr/>
          <p:nvPr/>
        </p:nvGrpSpPr>
        <p:grpSpPr>
          <a:xfrm rot="0">
            <a:off x="12724737" y="3418840"/>
            <a:ext cx="4368802" cy="4838087"/>
            <a:chOff x="0" y="0"/>
            <a:chExt cx="1150631" cy="1274229"/>
          </a:xfrm>
        </p:grpSpPr>
        <p:sp>
          <p:nvSpPr>
            <p:cNvPr name="Freeform 24" id="24"/>
            <p:cNvSpPr/>
            <p:nvPr/>
          </p:nvSpPr>
          <p:spPr>
            <a:xfrm flipH="false" flipV="false" rot="0">
              <a:off x="0" y="0"/>
              <a:ext cx="1150631" cy="1274229"/>
            </a:xfrm>
            <a:custGeom>
              <a:avLst/>
              <a:gdLst/>
              <a:ahLst/>
              <a:cxnLst/>
              <a:rect r="r" b="b" t="t" l="l"/>
              <a:pathLst>
                <a:path h="1274229" w="1150631">
                  <a:moveTo>
                    <a:pt x="30126" y="0"/>
                  </a:moveTo>
                  <a:lnTo>
                    <a:pt x="1120505" y="0"/>
                  </a:lnTo>
                  <a:cubicBezTo>
                    <a:pt x="1128495" y="0"/>
                    <a:pt x="1136158" y="3174"/>
                    <a:pt x="1141807" y="8824"/>
                  </a:cubicBezTo>
                  <a:cubicBezTo>
                    <a:pt x="1147457" y="14473"/>
                    <a:pt x="1150631" y="22136"/>
                    <a:pt x="1150631" y="30126"/>
                  </a:cubicBezTo>
                  <a:lnTo>
                    <a:pt x="1150631" y="1244103"/>
                  </a:lnTo>
                  <a:cubicBezTo>
                    <a:pt x="1150631" y="1260741"/>
                    <a:pt x="1137143" y="1274229"/>
                    <a:pt x="1120505" y="1274229"/>
                  </a:cubicBezTo>
                  <a:lnTo>
                    <a:pt x="30126" y="1274229"/>
                  </a:lnTo>
                  <a:cubicBezTo>
                    <a:pt x="13488" y="1274229"/>
                    <a:pt x="0" y="1260741"/>
                    <a:pt x="0" y="1244103"/>
                  </a:cubicBezTo>
                  <a:lnTo>
                    <a:pt x="0" y="30126"/>
                  </a:lnTo>
                  <a:cubicBezTo>
                    <a:pt x="0" y="13488"/>
                    <a:pt x="13488" y="0"/>
                    <a:pt x="30126" y="0"/>
                  </a:cubicBezTo>
                  <a:close/>
                </a:path>
              </a:pathLst>
            </a:custGeom>
            <a:ln w="38100" cap="sq">
              <a:solidFill>
                <a:srgbClr val="000000"/>
              </a:solidFill>
              <a:prstDash val="solid"/>
              <a:miter/>
            </a:ln>
          </p:spPr>
        </p:sp>
        <p:sp>
          <p:nvSpPr>
            <p:cNvPr name="TextBox 25" id="25"/>
            <p:cNvSpPr txBox="true"/>
            <p:nvPr/>
          </p:nvSpPr>
          <p:spPr>
            <a:xfrm>
              <a:off x="0" y="-38100"/>
              <a:ext cx="1150631" cy="1312329"/>
            </a:xfrm>
            <a:prstGeom prst="rect">
              <a:avLst/>
            </a:prstGeom>
          </p:spPr>
          <p:txBody>
            <a:bodyPr anchor="ctr" rtlCol="false" tIns="50800" lIns="50800" bIns="50800" rIns="50800"/>
            <a:lstStyle/>
            <a:p>
              <a:pPr algn="ctr">
                <a:lnSpc>
                  <a:spcPts val="2659"/>
                </a:lnSpc>
                <a:spcBef>
                  <a:spcPct val="0"/>
                </a:spcBef>
              </a:pPr>
            </a:p>
          </p:txBody>
        </p:sp>
      </p:grpSp>
      <p:sp>
        <p:nvSpPr>
          <p:cNvPr name="Freeform 26" id="26"/>
          <p:cNvSpPr/>
          <p:nvPr/>
        </p:nvSpPr>
        <p:spPr>
          <a:xfrm flipH="false" flipV="false" rot="0">
            <a:off x="14158666" y="3641569"/>
            <a:ext cx="1500944" cy="2351995"/>
          </a:xfrm>
          <a:custGeom>
            <a:avLst/>
            <a:gdLst/>
            <a:ahLst/>
            <a:cxnLst/>
            <a:rect r="r" b="b" t="t" l="l"/>
            <a:pathLst>
              <a:path h="2351995" w="1500944">
                <a:moveTo>
                  <a:pt x="0" y="0"/>
                </a:moveTo>
                <a:lnTo>
                  <a:pt x="1500944" y="0"/>
                </a:lnTo>
                <a:lnTo>
                  <a:pt x="1500944" y="2351995"/>
                </a:lnTo>
                <a:lnTo>
                  <a:pt x="0" y="2351995"/>
                </a:lnTo>
                <a:lnTo>
                  <a:pt x="0" y="0"/>
                </a:lnTo>
                <a:close/>
              </a:path>
            </a:pathLst>
          </a:custGeom>
          <a:blipFill>
            <a:blip r:embed="rId30"/>
            <a:stretch>
              <a:fillRect l="0" t="0" r="0" b="0"/>
            </a:stretch>
          </a:blipFill>
        </p:spPr>
      </p:sp>
      <p:sp>
        <p:nvSpPr>
          <p:cNvPr name="TextBox 27" id="27"/>
          <p:cNvSpPr txBox="true"/>
          <p:nvPr/>
        </p:nvSpPr>
        <p:spPr>
          <a:xfrm rot="0">
            <a:off x="2108499" y="5874712"/>
            <a:ext cx="3524954" cy="2077705"/>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Môi trường tĩnh. Đấu ngoại tuyến với BOT để rèn luyện các kỹ năng </a:t>
            </a:r>
          </a:p>
        </p:txBody>
      </p:sp>
      <p:sp>
        <p:nvSpPr>
          <p:cNvPr name="TextBox 28" id="28"/>
          <p:cNvSpPr txBox="true"/>
          <p:nvPr/>
        </p:nvSpPr>
        <p:spPr>
          <a:xfrm rot="0">
            <a:off x="7625334" y="5874712"/>
            <a:ext cx="3524954" cy="2077705"/>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Chế độ trực tuyến. Ghép trận ngẫu nhiên, cọ xát, thi đấu</a:t>
            </a:r>
          </a:p>
        </p:txBody>
      </p:sp>
      <p:sp>
        <p:nvSpPr>
          <p:cNvPr name="TextBox 29" id="29"/>
          <p:cNvSpPr txBox="true"/>
          <p:nvPr/>
        </p:nvSpPr>
        <p:spPr>
          <a:xfrm rot="0">
            <a:off x="1405171" y="1429521"/>
            <a:ext cx="5861209"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 Giới thiệu chung</a:t>
            </a:r>
          </a:p>
        </p:txBody>
      </p:sp>
      <p:sp>
        <p:nvSpPr>
          <p:cNvPr name="TextBox 30" id="30"/>
          <p:cNvSpPr txBox="true"/>
          <p:nvPr/>
        </p:nvSpPr>
        <p:spPr>
          <a:xfrm rot="0">
            <a:off x="13146661" y="5874712"/>
            <a:ext cx="3524954" cy="1553830"/>
          </a:xfrm>
          <a:prstGeom prst="rect">
            <a:avLst/>
          </a:prstGeom>
        </p:spPr>
        <p:txBody>
          <a:bodyPr anchor="t" rtlCol="false" tIns="0" lIns="0" bIns="0" rIns="0">
            <a:spAutoFit/>
          </a:bodyPr>
          <a:lstStyle/>
          <a:p>
            <a:pPr algn="l">
              <a:lnSpc>
                <a:spcPts val="4130"/>
              </a:lnSpc>
              <a:spcBef>
                <a:spcPct val="0"/>
              </a:spcBef>
            </a:pPr>
            <a:r>
              <a:rPr lang="en-US" sz="2950">
                <a:solidFill>
                  <a:srgbClr val="000000"/>
                </a:solidFill>
                <a:latin typeface="Noto Sans"/>
                <a:ea typeface="Noto Sans"/>
                <a:cs typeface="Noto Sans"/>
                <a:sym typeface="Noto Sans"/>
              </a:rPr>
              <a:t>Tính toán và cập nhật điểm số của người chơi lên BXH</a:t>
            </a:r>
          </a:p>
        </p:txBody>
      </p:sp>
      <p:sp>
        <p:nvSpPr>
          <p:cNvPr name="TextBox 31" id="31"/>
          <p:cNvSpPr txBox="true"/>
          <p:nvPr/>
        </p:nvSpPr>
        <p:spPr>
          <a:xfrm rot="0">
            <a:off x="1405171" y="2294830"/>
            <a:ext cx="4331256"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Mục tiêu đồ án</a:t>
            </a:r>
          </a:p>
        </p:txBody>
      </p:sp>
    </p:spTree>
  </p:cSld>
  <p:clrMapOvr>
    <a:masterClrMapping/>
  </p:clrMapOvr>
  <p:transition spd="slow">
    <p:push dir="l"/>
  </p:transition>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861489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030709" y="9258300"/>
            <a:ext cx="3059829" cy="751049"/>
          </a:xfrm>
          <a:custGeom>
            <a:avLst/>
            <a:gdLst/>
            <a:ahLst/>
            <a:cxnLst/>
            <a:rect r="r" b="b" t="t" l="l"/>
            <a:pathLst>
              <a:path h="751049" w="3059829">
                <a:moveTo>
                  <a:pt x="0" y="0"/>
                </a:moveTo>
                <a:lnTo>
                  <a:pt x="3059829" y="0"/>
                </a:lnTo>
                <a:lnTo>
                  <a:pt x="3059829" y="751049"/>
                </a:lnTo>
                <a:lnTo>
                  <a:pt x="0" y="75104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215205" y="8540136"/>
            <a:ext cx="4602314" cy="3618569"/>
          </a:xfrm>
          <a:custGeom>
            <a:avLst/>
            <a:gdLst/>
            <a:ahLst/>
            <a:cxnLst/>
            <a:rect r="r" b="b" t="t" l="l"/>
            <a:pathLst>
              <a:path h="3618569" w="4602314">
                <a:moveTo>
                  <a:pt x="0" y="0"/>
                </a:moveTo>
                <a:lnTo>
                  <a:pt x="4602314" y="0"/>
                </a:lnTo>
                <a:lnTo>
                  <a:pt x="4602314" y="3618570"/>
                </a:lnTo>
                <a:lnTo>
                  <a:pt x="0" y="361857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674156" y="-1072630"/>
            <a:ext cx="4899948" cy="3068592"/>
          </a:xfrm>
          <a:custGeom>
            <a:avLst/>
            <a:gdLst/>
            <a:ahLst/>
            <a:cxnLst/>
            <a:rect r="r" b="b" t="t" l="l"/>
            <a:pathLst>
              <a:path h="3068592" w="4899948">
                <a:moveTo>
                  <a:pt x="0" y="0"/>
                </a:moveTo>
                <a:lnTo>
                  <a:pt x="4899948" y="0"/>
                </a:lnTo>
                <a:lnTo>
                  <a:pt x="4899948"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686214" y="-2578193"/>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09323" y="-2700100"/>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31481" y="-1626507"/>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259300" y="2262342"/>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09373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440369" y="6970869"/>
            <a:ext cx="3382987" cy="1154444"/>
          </a:xfrm>
          <a:custGeom>
            <a:avLst/>
            <a:gdLst/>
            <a:ahLst/>
            <a:cxnLst/>
            <a:rect r="r" b="b" t="t" l="l"/>
            <a:pathLst>
              <a:path h="1154444" w="3382987">
                <a:moveTo>
                  <a:pt x="0" y="0"/>
                </a:moveTo>
                <a:lnTo>
                  <a:pt x="3382987" y="0"/>
                </a:lnTo>
                <a:lnTo>
                  <a:pt x="3382987"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6978638" y="-642644"/>
            <a:ext cx="3104522" cy="3342688"/>
          </a:xfrm>
          <a:custGeom>
            <a:avLst/>
            <a:gdLst/>
            <a:ahLst/>
            <a:cxnLst/>
            <a:rect r="r" b="b" t="t" l="l"/>
            <a:pathLst>
              <a:path h="3342688" w="3104522">
                <a:moveTo>
                  <a:pt x="0" y="0"/>
                </a:moveTo>
                <a:lnTo>
                  <a:pt x="3104522" y="0"/>
                </a:lnTo>
                <a:lnTo>
                  <a:pt x="3104522" y="3342688"/>
                </a:lnTo>
                <a:lnTo>
                  <a:pt x="0" y="3342688"/>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16" id="16"/>
          <p:cNvSpPr/>
          <p:nvPr/>
        </p:nvSpPr>
        <p:spPr>
          <a:xfrm flipH="false" flipV="false" rot="0">
            <a:off x="6018093" y="3312490"/>
            <a:ext cx="5384831" cy="3211317"/>
          </a:xfrm>
          <a:custGeom>
            <a:avLst/>
            <a:gdLst/>
            <a:ahLst/>
            <a:cxnLst/>
            <a:rect r="r" b="b" t="t" l="l"/>
            <a:pathLst>
              <a:path h="3211317" w="5384831">
                <a:moveTo>
                  <a:pt x="0" y="0"/>
                </a:moveTo>
                <a:lnTo>
                  <a:pt x="5384831" y="0"/>
                </a:lnTo>
                <a:lnTo>
                  <a:pt x="5384831" y="3211317"/>
                </a:lnTo>
                <a:lnTo>
                  <a:pt x="0" y="3211317"/>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TextBox 17" id="17"/>
          <p:cNvSpPr txBox="true"/>
          <p:nvPr/>
        </p:nvSpPr>
        <p:spPr>
          <a:xfrm rot="0">
            <a:off x="-1120816" y="1721428"/>
            <a:ext cx="12556769" cy="679450"/>
          </a:xfrm>
          <a:prstGeom prst="rect">
            <a:avLst/>
          </a:prstGeom>
        </p:spPr>
        <p:txBody>
          <a:bodyPr anchor="t" rtlCol="false" tIns="0" lIns="0" bIns="0" rIns="0">
            <a:spAutoFit/>
          </a:bodyPr>
          <a:lstStyle/>
          <a:p>
            <a:pPr algn="ctr">
              <a:lnSpc>
                <a:spcPts val="5599"/>
              </a:lnSpc>
              <a:spcBef>
                <a:spcPct val="0"/>
              </a:spcBef>
            </a:pPr>
            <a:r>
              <a:rPr lang="en-US" b="true" sz="3999">
                <a:solidFill>
                  <a:srgbClr val="000000"/>
                </a:solidFill>
                <a:latin typeface="Noto Sans Bold"/>
                <a:ea typeface="Noto Sans Bold"/>
                <a:cs typeface="Noto Sans Bold"/>
                <a:sym typeface="Noto Sans Bold"/>
              </a:rPr>
              <a:t>2</a:t>
            </a:r>
            <a:r>
              <a:rPr lang="en-US" b="true" sz="3999">
                <a:solidFill>
                  <a:srgbClr val="000000"/>
                </a:solidFill>
                <a:latin typeface="Noto Sans Bold"/>
                <a:ea typeface="Noto Sans Bold"/>
                <a:cs typeface="Noto Sans Bold"/>
                <a:sym typeface="Noto Sans Bold"/>
              </a:rPr>
              <a:t>. Phạm vi nghiên cứu và ứng dụng</a:t>
            </a:r>
          </a:p>
        </p:txBody>
      </p:sp>
      <p:sp>
        <p:nvSpPr>
          <p:cNvPr name="TextBox 18" id="18"/>
          <p:cNvSpPr txBox="true"/>
          <p:nvPr/>
        </p:nvSpPr>
        <p:spPr>
          <a:xfrm rot="0">
            <a:off x="2735836" y="7155630"/>
            <a:ext cx="13745482" cy="1384300"/>
          </a:xfrm>
          <a:prstGeom prst="rect">
            <a:avLst/>
          </a:prstGeom>
        </p:spPr>
        <p:txBody>
          <a:bodyPr anchor="t" rtlCol="false" tIns="0" lIns="0" bIns="0" rIns="0">
            <a:spAutoFit/>
          </a:bodyPr>
          <a:lstStyle/>
          <a:p>
            <a:pPr algn="ctr">
              <a:lnSpc>
                <a:spcPts val="5599"/>
              </a:lnSpc>
              <a:spcBef>
                <a:spcPct val="0"/>
              </a:spcBef>
            </a:pPr>
            <a:r>
              <a:rPr lang="en-US" sz="3999">
                <a:solidFill>
                  <a:srgbClr val="000000"/>
                </a:solidFill>
                <a:latin typeface="Noto Sans"/>
                <a:ea typeface="Noto Sans"/>
                <a:cs typeface="Noto Sans"/>
                <a:sym typeface="Noto Sans"/>
              </a:rPr>
              <a:t>Chạy trên nền tảng web thông qua trình duyệt máy tính. Chưa hỗ trợ trên nền tảng thiết bị di động.</a:t>
            </a:r>
          </a:p>
        </p:txBody>
      </p:sp>
      <p:sp>
        <p:nvSpPr>
          <p:cNvPr name="TextBox 19" id="19"/>
          <p:cNvSpPr txBox="true"/>
          <p:nvPr/>
        </p:nvSpPr>
        <p:spPr>
          <a:xfrm rot="0">
            <a:off x="1028700" y="2486603"/>
            <a:ext cx="3174802" cy="596900"/>
          </a:xfrm>
          <a:prstGeom prst="rect">
            <a:avLst/>
          </a:prstGeom>
        </p:spPr>
        <p:txBody>
          <a:bodyPr anchor="t" rtlCol="false" tIns="0" lIns="0" bIns="0" rIns="0">
            <a:spAutoFit/>
          </a:bodyPr>
          <a:lstStyle/>
          <a:p>
            <a:pPr algn="l">
              <a:lnSpc>
                <a:spcPts val="4900"/>
              </a:lnSpc>
              <a:spcBef>
                <a:spcPct val="0"/>
              </a:spcBef>
            </a:pPr>
            <a:r>
              <a:rPr lang="en-US" b="true" sz="3500">
                <a:solidFill>
                  <a:srgbClr val="000000"/>
                </a:solidFill>
                <a:latin typeface="Noto Sans Bold"/>
                <a:ea typeface="Noto Sans Bold"/>
                <a:cs typeface="Noto Sans Bold"/>
                <a:sym typeface="Noto Sans Bold"/>
              </a:rPr>
              <a:t>a. Về nền tảng</a:t>
            </a:r>
          </a:p>
        </p:txBody>
      </p:sp>
    </p:spTree>
  </p:cSld>
  <p:clrMapOvr>
    <a:masterClrMapping/>
  </p:clrMapOvr>
  <p:transition spd="slow">
    <p:push dir="l"/>
  </p:transition>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848571" y="8919661"/>
            <a:ext cx="3870946" cy="950141"/>
          </a:xfrm>
          <a:custGeom>
            <a:avLst/>
            <a:gdLst/>
            <a:ahLst/>
            <a:cxnLst/>
            <a:rect r="r" b="b" t="t" l="l"/>
            <a:pathLst>
              <a:path h="950141" w="3870946">
                <a:moveTo>
                  <a:pt x="0" y="0"/>
                </a:moveTo>
                <a:lnTo>
                  <a:pt x="3870946" y="0"/>
                </a:lnTo>
                <a:lnTo>
                  <a:pt x="3870946" y="950141"/>
                </a:lnTo>
                <a:lnTo>
                  <a:pt x="0" y="95014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4" id="4"/>
          <p:cNvSpPr/>
          <p:nvPr/>
        </p:nvSpPr>
        <p:spPr>
          <a:xfrm flipH="false" flipV="false" rot="0">
            <a:off x="3431074" y="8919661"/>
            <a:ext cx="2587020" cy="2386526"/>
          </a:xfrm>
          <a:custGeom>
            <a:avLst/>
            <a:gdLst/>
            <a:ahLst/>
            <a:cxnLst/>
            <a:rect r="r" b="b" t="t" l="l"/>
            <a:pathLst>
              <a:path h="2386526" w="2587020">
                <a:moveTo>
                  <a:pt x="0" y="0"/>
                </a:moveTo>
                <a:lnTo>
                  <a:pt x="2587019" y="0"/>
                </a:lnTo>
                <a:lnTo>
                  <a:pt x="2587019" y="2386525"/>
                </a:lnTo>
                <a:lnTo>
                  <a:pt x="0" y="23865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848571" y="-1142620"/>
            <a:ext cx="2597326" cy="2796583"/>
          </a:xfrm>
          <a:custGeom>
            <a:avLst/>
            <a:gdLst/>
            <a:ahLst/>
            <a:cxnLst/>
            <a:rect r="r" b="b" t="t" l="l"/>
            <a:pathLst>
              <a:path h="2796583" w="2597326">
                <a:moveTo>
                  <a:pt x="0" y="0"/>
                </a:moveTo>
                <a:lnTo>
                  <a:pt x="2597327" y="0"/>
                </a:lnTo>
                <a:lnTo>
                  <a:pt x="2597327" y="2796582"/>
                </a:lnTo>
                <a:lnTo>
                  <a:pt x="0" y="27965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0539182" y="2737300"/>
            <a:ext cx="6543007" cy="5864913"/>
          </a:xfrm>
          <a:custGeom>
            <a:avLst/>
            <a:gdLst/>
            <a:ahLst/>
            <a:cxnLst/>
            <a:rect r="r" b="b" t="t" l="l"/>
            <a:pathLst>
              <a:path h="5864913" w="6543007">
                <a:moveTo>
                  <a:pt x="0" y="0"/>
                </a:moveTo>
                <a:lnTo>
                  <a:pt x="6543007" y="0"/>
                </a:lnTo>
                <a:lnTo>
                  <a:pt x="6543007" y="5864913"/>
                </a:lnTo>
                <a:lnTo>
                  <a:pt x="0" y="5864913"/>
                </a:lnTo>
                <a:lnTo>
                  <a:pt x="0" y="0"/>
                </a:lnTo>
                <a:close/>
              </a:path>
            </a:pathLst>
          </a:custGeom>
          <a:blipFill>
            <a:blip r:embed="rId10"/>
            <a:stretch>
              <a:fillRect l="0" t="0" r="0" b="0"/>
            </a:stretch>
          </a:blipFill>
        </p:spPr>
      </p:sp>
      <p:sp>
        <p:nvSpPr>
          <p:cNvPr name="TextBox 7" id="7"/>
          <p:cNvSpPr txBox="true"/>
          <p:nvPr/>
        </p:nvSpPr>
        <p:spPr>
          <a:xfrm rot="0">
            <a:off x="1337928" y="4009332"/>
            <a:ext cx="7740729" cy="2946328"/>
          </a:xfrm>
          <a:prstGeom prst="rect">
            <a:avLst/>
          </a:prstGeom>
        </p:spPr>
        <p:txBody>
          <a:bodyPr anchor="t" rtlCol="false" tIns="0" lIns="0" bIns="0" rIns="0">
            <a:spAutoFit/>
          </a:bodyPr>
          <a:lstStyle/>
          <a:p>
            <a:pPr algn="l">
              <a:lnSpc>
                <a:spcPts val="5913"/>
              </a:lnSpc>
              <a:spcBef>
                <a:spcPct val="0"/>
              </a:spcBef>
            </a:pPr>
            <a:r>
              <a:rPr lang="en-US" sz="4224">
                <a:solidFill>
                  <a:srgbClr val="000000"/>
                </a:solidFill>
                <a:latin typeface="Noto Sans"/>
                <a:ea typeface="Noto Sans"/>
                <a:cs typeface="Noto Sans"/>
                <a:sym typeface="Noto Sans"/>
              </a:rPr>
              <a:t>Hệ thống tuân thủ các quy tắc của cờ vua tiêu chuẩn quốc tế. Không hỗ trợ các biến thể cờ vua mở rộng</a:t>
            </a:r>
          </a:p>
        </p:txBody>
      </p:sp>
      <p:sp>
        <p:nvSpPr>
          <p:cNvPr name="TextBox 8" id="8"/>
          <p:cNvSpPr txBox="true"/>
          <p:nvPr/>
        </p:nvSpPr>
        <p:spPr>
          <a:xfrm rot="0">
            <a:off x="1170060" y="1596812"/>
            <a:ext cx="3268861" cy="587375"/>
          </a:xfrm>
          <a:prstGeom prst="rect">
            <a:avLst/>
          </a:prstGeom>
        </p:spPr>
        <p:txBody>
          <a:bodyPr anchor="t" rtlCol="false" tIns="0" lIns="0" bIns="0" rIns="0">
            <a:spAutoFit/>
          </a:bodyPr>
          <a:lstStyle/>
          <a:p>
            <a:pPr algn="l">
              <a:lnSpc>
                <a:spcPts val="4899"/>
              </a:lnSpc>
              <a:spcBef>
                <a:spcPct val="0"/>
              </a:spcBef>
            </a:pPr>
            <a:r>
              <a:rPr lang="en-US" b="true" sz="3499">
                <a:solidFill>
                  <a:srgbClr val="000000"/>
                </a:solidFill>
                <a:latin typeface="Noto Sans Bold"/>
                <a:ea typeface="Noto Sans Bold"/>
                <a:cs typeface="Noto Sans Bold"/>
                <a:sym typeface="Noto Sans Bold"/>
              </a:rPr>
              <a:t>b.  Về luật chơi</a:t>
            </a:r>
          </a:p>
        </p:txBody>
      </p:sp>
    </p:spTree>
  </p:cSld>
  <p:clrMapOvr>
    <a:masterClrMapping/>
  </p:clrMapOvr>
  <p:transition spd="slow">
    <p:push dir="l"/>
  </p:transition>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848571" y="8919661"/>
            <a:ext cx="3870946" cy="950141"/>
          </a:xfrm>
          <a:custGeom>
            <a:avLst/>
            <a:gdLst/>
            <a:ahLst/>
            <a:cxnLst/>
            <a:rect r="r" b="b" t="t" l="l"/>
            <a:pathLst>
              <a:path h="950141" w="3870946">
                <a:moveTo>
                  <a:pt x="0" y="0"/>
                </a:moveTo>
                <a:lnTo>
                  <a:pt x="3870946" y="0"/>
                </a:lnTo>
                <a:lnTo>
                  <a:pt x="3870946" y="950141"/>
                </a:lnTo>
                <a:lnTo>
                  <a:pt x="0" y="95014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3307048" y="-2181512"/>
            <a:ext cx="4980952" cy="3731186"/>
          </a:xfrm>
          <a:custGeom>
            <a:avLst/>
            <a:gdLst/>
            <a:ahLst/>
            <a:cxnLst/>
            <a:rect r="r" b="b" t="t" l="l"/>
            <a:pathLst>
              <a:path h="3731186" w="4980952">
                <a:moveTo>
                  <a:pt x="0" y="0"/>
                </a:moveTo>
                <a:lnTo>
                  <a:pt x="4980952" y="0"/>
                </a:lnTo>
                <a:lnTo>
                  <a:pt x="4980952" y="3731186"/>
                </a:lnTo>
                <a:lnTo>
                  <a:pt x="0" y="37311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a:ln cap="sq">
            <a:noFill/>
            <a:prstDash val="solid"/>
            <a:miter/>
          </a:ln>
        </p:spPr>
      </p:sp>
      <p:sp>
        <p:nvSpPr>
          <p:cNvPr name="Freeform 4" id="4"/>
          <p:cNvSpPr/>
          <p:nvPr/>
        </p:nvSpPr>
        <p:spPr>
          <a:xfrm flipH="false" flipV="false" rot="0">
            <a:off x="3431074" y="8919661"/>
            <a:ext cx="2587020" cy="2386526"/>
          </a:xfrm>
          <a:custGeom>
            <a:avLst/>
            <a:gdLst/>
            <a:ahLst/>
            <a:cxnLst/>
            <a:rect r="r" b="b" t="t" l="l"/>
            <a:pathLst>
              <a:path h="2386526" w="2587020">
                <a:moveTo>
                  <a:pt x="0" y="0"/>
                </a:moveTo>
                <a:lnTo>
                  <a:pt x="2587019" y="0"/>
                </a:lnTo>
                <a:lnTo>
                  <a:pt x="2587019" y="2386525"/>
                </a:lnTo>
                <a:lnTo>
                  <a:pt x="0" y="238652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848571" y="-1142620"/>
            <a:ext cx="2597326" cy="2796583"/>
          </a:xfrm>
          <a:custGeom>
            <a:avLst/>
            <a:gdLst/>
            <a:ahLst/>
            <a:cxnLst/>
            <a:rect r="r" b="b" t="t" l="l"/>
            <a:pathLst>
              <a:path h="2796583" w="2597326">
                <a:moveTo>
                  <a:pt x="0" y="0"/>
                </a:moveTo>
                <a:lnTo>
                  <a:pt x="2597327" y="0"/>
                </a:lnTo>
                <a:lnTo>
                  <a:pt x="2597327" y="2796582"/>
                </a:lnTo>
                <a:lnTo>
                  <a:pt x="0" y="279658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TextBox 6" id="6"/>
          <p:cNvSpPr txBox="true"/>
          <p:nvPr/>
        </p:nvSpPr>
        <p:spPr>
          <a:xfrm rot="0">
            <a:off x="1086902" y="1596812"/>
            <a:ext cx="3458408" cy="587375"/>
          </a:xfrm>
          <a:prstGeom prst="rect">
            <a:avLst/>
          </a:prstGeom>
        </p:spPr>
        <p:txBody>
          <a:bodyPr anchor="t" rtlCol="false" tIns="0" lIns="0" bIns="0" rIns="0">
            <a:spAutoFit/>
          </a:bodyPr>
          <a:lstStyle/>
          <a:p>
            <a:pPr algn="l">
              <a:lnSpc>
                <a:spcPts val="4899"/>
              </a:lnSpc>
              <a:spcBef>
                <a:spcPct val="0"/>
              </a:spcBef>
            </a:pPr>
            <a:r>
              <a:rPr lang="en-US" b="true" sz="3499">
                <a:solidFill>
                  <a:srgbClr val="000000"/>
                </a:solidFill>
                <a:latin typeface="Noto Sans Bold"/>
                <a:ea typeface="Noto Sans Bold"/>
                <a:cs typeface="Noto Sans Bold"/>
                <a:sym typeface="Noto Sans Bold"/>
              </a:rPr>
              <a:t>c. Về công nghệ</a:t>
            </a:r>
          </a:p>
        </p:txBody>
      </p:sp>
      <p:grpSp>
        <p:nvGrpSpPr>
          <p:cNvPr name="Group 7" id="7"/>
          <p:cNvGrpSpPr/>
          <p:nvPr/>
        </p:nvGrpSpPr>
        <p:grpSpPr>
          <a:xfrm rot="0">
            <a:off x="2291504" y="4285430"/>
            <a:ext cx="3086100" cy="3086100"/>
            <a:chOff x="0" y="0"/>
            <a:chExt cx="812800" cy="812800"/>
          </a:xfrm>
        </p:grpSpPr>
        <p:sp>
          <p:nvSpPr>
            <p:cNvPr name="Freeform 8" id="8"/>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9" id="9"/>
            <p:cNvSpPr txBox="true"/>
            <p:nvPr/>
          </p:nvSpPr>
          <p:spPr>
            <a:xfrm>
              <a:off x="0" y="-38100"/>
              <a:ext cx="812800" cy="850900"/>
            </a:xfrm>
            <a:prstGeom prst="rect">
              <a:avLst/>
            </a:prstGeom>
          </p:spPr>
          <p:txBody>
            <a:bodyPr anchor="ctr" rtlCol="false" tIns="50800" lIns="50800" bIns="50800" rIns="50800"/>
            <a:lstStyle/>
            <a:p>
              <a:pPr algn="ctr">
                <a:lnSpc>
                  <a:spcPts val="2659"/>
                </a:lnSpc>
              </a:pPr>
            </a:p>
          </p:txBody>
        </p:sp>
      </p:grpSp>
      <p:grpSp>
        <p:nvGrpSpPr>
          <p:cNvPr name="Group 10" id="10"/>
          <p:cNvGrpSpPr/>
          <p:nvPr/>
        </p:nvGrpSpPr>
        <p:grpSpPr>
          <a:xfrm rot="0">
            <a:off x="10543268" y="2435675"/>
            <a:ext cx="5829314" cy="3041855"/>
            <a:chOff x="0" y="0"/>
            <a:chExt cx="1535292" cy="801147"/>
          </a:xfrm>
        </p:grpSpPr>
        <p:sp>
          <p:nvSpPr>
            <p:cNvPr name="Freeform 11" id="11"/>
            <p:cNvSpPr/>
            <p:nvPr/>
          </p:nvSpPr>
          <p:spPr>
            <a:xfrm flipH="false" flipV="false" rot="0">
              <a:off x="0" y="0"/>
              <a:ext cx="1535293" cy="801147"/>
            </a:xfrm>
            <a:custGeom>
              <a:avLst/>
              <a:gdLst/>
              <a:ahLst/>
              <a:cxnLst/>
              <a:rect r="r" b="b" t="t" l="l"/>
              <a:pathLst>
                <a:path h="801147" w="1535293">
                  <a:moveTo>
                    <a:pt x="0" y="0"/>
                  </a:moveTo>
                  <a:lnTo>
                    <a:pt x="1535293" y="0"/>
                  </a:lnTo>
                  <a:lnTo>
                    <a:pt x="1535293" y="801147"/>
                  </a:lnTo>
                  <a:lnTo>
                    <a:pt x="0" y="801147"/>
                  </a:lnTo>
                  <a:close/>
                </a:path>
              </a:pathLst>
            </a:custGeom>
            <a:solidFill>
              <a:srgbClr val="8AB7E2"/>
            </a:solidFill>
          </p:spPr>
        </p:sp>
        <p:sp>
          <p:nvSpPr>
            <p:cNvPr name="TextBox 12" id="12"/>
            <p:cNvSpPr txBox="true"/>
            <p:nvPr/>
          </p:nvSpPr>
          <p:spPr>
            <a:xfrm>
              <a:off x="0" y="-38100"/>
              <a:ext cx="1535292" cy="839247"/>
            </a:xfrm>
            <a:prstGeom prst="rect">
              <a:avLst/>
            </a:prstGeom>
          </p:spPr>
          <p:txBody>
            <a:bodyPr anchor="ctr" rtlCol="false" tIns="50800" lIns="50800" bIns="50800" rIns="50800"/>
            <a:lstStyle/>
            <a:p>
              <a:pPr algn="ctr">
                <a:lnSpc>
                  <a:spcPts val="2659"/>
                </a:lnSpc>
              </a:pPr>
            </a:p>
          </p:txBody>
        </p:sp>
      </p:grpSp>
      <p:grpSp>
        <p:nvGrpSpPr>
          <p:cNvPr name="Group 13" id="13"/>
          <p:cNvGrpSpPr/>
          <p:nvPr/>
        </p:nvGrpSpPr>
        <p:grpSpPr>
          <a:xfrm rot="0">
            <a:off x="10543268" y="6297384"/>
            <a:ext cx="5829314" cy="2987132"/>
            <a:chOff x="0" y="0"/>
            <a:chExt cx="1535292" cy="786734"/>
          </a:xfrm>
        </p:grpSpPr>
        <p:sp>
          <p:nvSpPr>
            <p:cNvPr name="Freeform 14" id="14"/>
            <p:cNvSpPr/>
            <p:nvPr/>
          </p:nvSpPr>
          <p:spPr>
            <a:xfrm flipH="false" flipV="false" rot="0">
              <a:off x="0" y="0"/>
              <a:ext cx="1535293" cy="786734"/>
            </a:xfrm>
            <a:custGeom>
              <a:avLst/>
              <a:gdLst/>
              <a:ahLst/>
              <a:cxnLst/>
              <a:rect r="r" b="b" t="t" l="l"/>
              <a:pathLst>
                <a:path h="786734" w="1535293">
                  <a:moveTo>
                    <a:pt x="0" y="0"/>
                  </a:moveTo>
                  <a:lnTo>
                    <a:pt x="1535293" y="0"/>
                  </a:lnTo>
                  <a:lnTo>
                    <a:pt x="1535293" y="786734"/>
                  </a:lnTo>
                  <a:lnTo>
                    <a:pt x="0" y="786734"/>
                  </a:lnTo>
                  <a:close/>
                </a:path>
              </a:pathLst>
            </a:custGeom>
            <a:solidFill>
              <a:srgbClr val="8AB7E2"/>
            </a:solidFill>
          </p:spPr>
        </p:sp>
        <p:sp>
          <p:nvSpPr>
            <p:cNvPr name="TextBox 15" id="15"/>
            <p:cNvSpPr txBox="true"/>
            <p:nvPr/>
          </p:nvSpPr>
          <p:spPr>
            <a:xfrm>
              <a:off x="0" y="-38100"/>
              <a:ext cx="1535292" cy="824834"/>
            </a:xfrm>
            <a:prstGeom prst="rect">
              <a:avLst/>
            </a:prstGeom>
          </p:spPr>
          <p:txBody>
            <a:bodyPr anchor="ctr" rtlCol="false" tIns="50800" lIns="50800" bIns="50800" rIns="50800"/>
            <a:lstStyle/>
            <a:p>
              <a:pPr algn="ctr">
                <a:lnSpc>
                  <a:spcPts val="2659"/>
                </a:lnSpc>
              </a:pPr>
            </a:p>
          </p:txBody>
        </p:sp>
      </p:grpSp>
      <p:sp>
        <p:nvSpPr>
          <p:cNvPr name="Freeform 16" id="16"/>
          <p:cNvSpPr/>
          <p:nvPr/>
        </p:nvSpPr>
        <p:spPr>
          <a:xfrm>
            <a:off x="5377604" y="3956602"/>
            <a:ext cx="5165664" cy="1871878"/>
          </a:xfrm>
          <a:custGeom>
            <a:avLst/>
            <a:gdLst/>
            <a:ahLst/>
            <a:cxnLst/>
            <a:rect r="r" b="b" t="t" l="l"/>
            <a:pathLst>
              <a:path h="1871878" w="5165664">
                <a:moveTo>
                  <a:pt x="0" y="1871878"/>
                </a:moveTo>
                <a:lnTo>
                  <a:pt x="2354232" y="1871878"/>
                </a:lnTo>
                <a:cubicBezTo>
                  <a:pt x="2414861" y="1871878"/>
                  <a:pt x="2473006" y="1847794"/>
                  <a:pt x="2515876" y="1804923"/>
                </a:cubicBezTo>
                <a:cubicBezTo>
                  <a:pt x="2558747" y="1762052"/>
                  <a:pt x="2582832" y="1703907"/>
                  <a:pt x="2582832" y="1643278"/>
                </a:cubicBezTo>
                <a:lnTo>
                  <a:pt x="2582832" y="228600"/>
                </a:lnTo>
                <a:cubicBezTo>
                  <a:pt x="2582832" y="167971"/>
                  <a:pt x="2606916" y="109826"/>
                  <a:pt x="2649787" y="66955"/>
                </a:cubicBezTo>
                <a:cubicBezTo>
                  <a:pt x="2692658" y="24084"/>
                  <a:pt x="2750803" y="0"/>
                  <a:pt x="2811432" y="0"/>
                </a:cubicBezTo>
                <a:lnTo>
                  <a:pt x="5165664" y="0"/>
                </a:lnTo>
              </a:path>
            </a:pathLst>
          </a:custGeom>
          <a:ln cap="flat" w="38100">
            <a:solidFill>
              <a:srgbClr val="000000"/>
            </a:solidFill>
            <a:prstDash val="solid"/>
            <a:headEnd type="none" len="sm" w="sm"/>
            <a:tailEnd type="arrow" len="sm" w="med"/>
          </a:ln>
        </p:spPr>
      </p:sp>
      <p:sp>
        <p:nvSpPr>
          <p:cNvPr name="Freeform 17" id="17"/>
          <p:cNvSpPr/>
          <p:nvPr/>
        </p:nvSpPr>
        <p:spPr>
          <a:xfrm>
            <a:off x="5377604" y="5828480"/>
            <a:ext cx="5165664" cy="1962470"/>
          </a:xfrm>
          <a:custGeom>
            <a:avLst/>
            <a:gdLst/>
            <a:ahLst/>
            <a:cxnLst/>
            <a:rect r="r" b="b" t="t" l="l"/>
            <a:pathLst>
              <a:path h="1962470" w="5165664">
                <a:moveTo>
                  <a:pt x="0" y="0"/>
                </a:moveTo>
                <a:lnTo>
                  <a:pt x="2354232" y="0"/>
                </a:lnTo>
                <a:cubicBezTo>
                  <a:pt x="2480484" y="0"/>
                  <a:pt x="2582832" y="102348"/>
                  <a:pt x="2582832" y="228600"/>
                </a:cubicBezTo>
                <a:lnTo>
                  <a:pt x="2582832" y="1733870"/>
                </a:lnTo>
                <a:cubicBezTo>
                  <a:pt x="2582832" y="1860122"/>
                  <a:pt x="2685180" y="1962470"/>
                  <a:pt x="2811432" y="1962470"/>
                </a:cubicBezTo>
                <a:lnTo>
                  <a:pt x="5165664" y="1962470"/>
                </a:lnTo>
              </a:path>
            </a:pathLst>
          </a:custGeom>
          <a:ln cap="flat" w="38100">
            <a:solidFill>
              <a:srgbClr val="000000"/>
            </a:solidFill>
            <a:prstDash val="solid"/>
            <a:headEnd type="none" len="sm" w="sm"/>
            <a:tailEnd type="arrow" len="sm" w="med"/>
          </a:ln>
        </p:spPr>
      </p:sp>
      <p:sp>
        <p:nvSpPr>
          <p:cNvPr name="TextBox 18" id="18"/>
          <p:cNvSpPr txBox="true"/>
          <p:nvPr/>
        </p:nvSpPr>
        <p:spPr>
          <a:xfrm rot="0">
            <a:off x="2291504" y="4361016"/>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Frontend</a:t>
            </a:r>
          </a:p>
        </p:txBody>
      </p:sp>
      <p:sp>
        <p:nvSpPr>
          <p:cNvPr name="TextBox 19" id="19"/>
          <p:cNvSpPr txBox="true"/>
          <p:nvPr/>
        </p:nvSpPr>
        <p:spPr>
          <a:xfrm rot="0">
            <a:off x="2291504" y="5135264"/>
            <a:ext cx="3086100" cy="448311"/>
          </a:xfrm>
          <a:prstGeom prst="rect">
            <a:avLst/>
          </a:prstGeom>
        </p:spPr>
        <p:txBody>
          <a:bodyPr anchor="t" rtlCol="false" tIns="0" lIns="0" bIns="0" rIns="0">
            <a:spAutoFit/>
          </a:bodyPr>
          <a:lstStyle/>
          <a:p>
            <a:pPr algn="ctr">
              <a:lnSpc>
                <a:spcPts val="3639"/>
              </a:lnSpc>
              <a:spcBef>
                <a:spcPct val="0"/>
              </a:spcBef>
            </a:pPr>
            <a:r>
              <a:rPr lang="en-US" sz="2599">
                <a:solidFill>
                  <a:srgbClr val="000000"/>
                </a:solidFill>
                <a:latin typeface="Noto Sans"/>
                <a:ea typeface="Noto Sans"/>
                <a:cs typeface="Noto Sans"/>
                <a:sym typeface="Noto Sans"/>
              </a:rPr>
              <a:t>HTML/CSS/JS</a:t>
            </a:r>
          </a:p>
        </p:txBody>
      </p:sp>
      <p:sp>
        <p:nvSpPr>
          <p:cNvPr name="TextBox 20" id="20"/>
          <p:cNvSpPr txBox="true"/>
          <p:nvPr/>
        </p:nvSpPr>
        <p:spPr>
          <a:xfrm rot="0">
            <a:off x="2291504" y="5771330"/>
            <a:ext cx="3086100" cy="1362711"/>
          </a:xfrm>
          <a:prstGeom prst="rect">
            <a:avLst/>
          </a:prstGeom>
        </p:spPr>
        <p:txBody>
          <a:bodyPr anchor="t" rtlCol="false" tIns="0" lIns="0" bIns="0" rIns="0">
            <a:spAutoFit/>
          </a:bodyPr>
          <a:lstStyle/>
          <a:p>
            <a:pPr algn="ctr">
              <a:lnSpc>
                <a:spcPts val="3639"/>
              </a:lnSpc>
              <a:spcBef>
                <a:spcPct val="0"/>
              </a:spcBef>
            </a:pPr>
            <a:r>
              <a:rPr lang="en-US" sz="2599">
                <a:solidFill>
                  <a:srgbClr val="000000"/>
                </a:solidFill>
                <a:latin typeface="Noto Sans"/>
                <a:ea typeface="Noto Sans"/>
                <a:cs typeface="Noto Sans"/>
                <a:sym typeface="Noto Sans"/>
              </a:rPr>
              <a:t>chessboard.js, chess.js và stockfish.js</a:t>
            </a:r>
          </a:p>
        </p:txBody>
      </p:sp>
      <p:sp>
        <p:nvSpPr>
          <p:cNvPr name="TextBox 21" id="21"/>
          <p:cNvSpPr txBox="true"/>
          <p:nvPr/>
        </p:nvSpPr>
        <p:spPr>
          <a:xfrm rot="0">
            <a:off x="10543268" y="2466117"/>
            <a:ext cx="5829314" cy="497841"/>
          </a:xfrm>
          <a:prstGeom prst="rect">
            <a:avLst/>
          </a:prstGeom>
        </p:spPr>
        <p:txBody>
          <a:bodyPr anchor="t" rtlCol="false" tIns="0" lIns="0" bIns="0" rIns="0">
            <a:spAutoFit/>
          </a:bodyPr>
          <a:lstStyle/>
          <a:p>
            <a:pPr algn="ctr">
              <a:lnSpc>
                <a:spcPts val="4059"/>
              </a:lnSpc>
              <a:spcBef>
                <a:spcPct val="0"/>
              </a:spcBef>
            </a:pPr>
            <a:r>
              <a:rPr lang="en-US" sz="2899">
                <a:solidFill>
                  <a:srgbClr val="000000"/>
                </a:solidFill>
                <a:latin typeface="Noto Sans"/>
                <a:ea typeface="Noto Sans"/>
                <a:cs typeface="Noto Sans"/>
                <a:sym typeface="Noto Sans"/>
              </a:rPr>
              <a:t>PHP và MySQL</a:t>
            </a:r>
          </a:p>
        </p:txBody>
      </p:sp>
      <p:sp>
        <p:nvSpPr>
          <p:cNvPr name="TextBox 22" id="22"/>
          <p:cNvSpPr txBox="true"/>
          <p:nvPr/>
        </p:nvSpPr>
        <p:spPr>
          <a:xfrm rot="0">
            <a:off x="10725281" y="3089353"/>
            <a:ext cx="5465288" cy="2077705"/>
          </a:xfrm>
          <a:prstGeom prst="rect">
            <a:avLst/>
          </a:prstGeom>
        </p:spPr>
        <p:txBody>
          <a:bodyPr anchor="t" rtlCol="false" tIns="0" lIns="0" bIns="0" rIns="0">
            <a:spAutoFit/>
          </a:bodyPr>
          <a:lstStyle/>
          <a:p>
            <a:pPr algn="l" marL="637029" indent="-318515" lvl="1">
              <a:lnSpc>
                <a:spcPts val="4130"/>
              </a:lnSpc>
              <a:buFont typeface="Arial"/>
              <a:buChar char="•"/>
            </a:pPr>
            <a:r>
              <a:rPr lang="en-US" sz="2950">
                <a:solidFill>
                  <a:srgbClr val="000000"/>
                </a:solidFill>
                <a:latin typeface="Noto Sans"/>
                <a:ea typeface="Noto Sans"/>
                <a:cs typeface="Noto Sans"/>
                <a:sym typeface="Noto Sans"/>
              </a:rPr>
              <a:t>Đăng nhập/Đăng Ký</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Quản lý bạn bè</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Bảng xếp hạng</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Lịch sử trận đấu</a:t>
            </a:r>
          </a:p>
        </p:txBody>
      </p:sp>
      <p:sp>
        <p:nvSpPr>
          <p:cNvPr name="AutoShape 23" id="23"/>
          <p:cNvSpPr/>
          <p:nvPr/>
        </p:nvSpPr>
        <p:spPr>
          <a:xfrm>
            <a:off x="10543268" y="3127453"/>
            <a:ext cx="5984072" cy="0"/>
          </a:xfrm>
          <a:prstGeom prst="line">
            <a:avLst/>
          </a:prstGeom>
          <a:ln cap="flat" w="38100">
            <a:solidFill>
              <a:srgbClr val="000000"/>
            </a:solidFill>
            <a:prstDash val="solid"/>
            <a:headEnd type="none" len="sm" w="sm"/>
            <a:tailEnd type="none" len="sm" w="sm"/>
          </a:ln>
        </p:spPr>
      </p:sp>
      <p:sp>
        <p:nvSpPr>
          <p:cNvPr name="AutoShape 24" id="24"/>
          <p:cNvSpPr/>
          <p:nvPr/>
        </p:nvSpPr>
        <p:spPr>
          <a:xfrm>
            <a:off x="10543268" y="7063231"/>
            <a:ext cx="5829314" cy="0"/>
          </a:xfrm>
          <a:prstGeom prst="line">
            <a:avLst/>
          </a:prstGeom>
          <a:ln cap="flat" w="38100">
            <a:solidFill>
              <a:srgbClr val="000000"/>
            </a:solidFill>
            <a:prstDash val="solid"/>
            <a:headEnd type="none" len="sm" w="sm"/>
            <a:tailEnd type="none" len="sm" w="sm"/>
          </a:ln>
        </p:spPr>
      </p:sp>
      <p:sp>
        <p:nvSpPr>
          <p:cNvPr name="TextBox 25" id="25"/>
          <p:cNvSpPr txBox="true"/>
          <p:nvPr/>
        </p:nvSpPr>
        <p:spPr>
          <a:xfrm rot="0">
            <a:off x="10543268" y="6395226"/>
            <a:ext cx="5829314"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Node.js và Socket.io</a:t>
            </a:r>
          </a:p>
        </p:txBody>
      </p:sp>
      <p:sp>
        <p:nvSpPr>
          <p:cNvPr name="TextBox 26" id="26"/>
          <p:cNvSpPr txBox="true"/>
          <p:nvPr/>
        </p:nvSpPr>
        <p:spPr>
          <a:xfrm rot="0">
            <a:off x="10543268" y="7314380"/>
            <a:ext cx="5829314" cy="1553830"/>
          </a:xfrm>
          <a:prstGeom prst="rect">
            <a:avLst/>
          </a:prstGeom>
        </p:spPr>
        <p:txBody>
          <a:bodyPr anchor="t" rtlCol="false" tIns="0" lIns="0" bIns="0" rIns="0">
            <a:spAutoFit/>
          </a:bodyPr>
          <a:lstStyle/>
          <a:p>
            <a:pPr algn="l" marL="637029" indent="-318515" lvl="1">
              <a:lnSpc>
                <a:spcPts val="4130"/>
              </a:lnSpc>
              <a:buFont typeface="Arial"/>
              <a:buChar char="•"/>
            </a:pPr>
            <a:r>
              <a:rPr lang="en-US" sz="2950">
                <a:solidFill>
                  <a:srgbClr val="000000"/>
                </a:solidFill>
                <a:latin typeface="Noto Sans"/>
                <a:ea typeface="Noto Sans"/>
                <a:cs typeface="Noto Sans"/>
                <a:sym typeface="Noto Sans"/>
              </a:rPr>
              <a:t>Điều phối phòng theo thời gian thực</a:t>
            </a:r>
          </a:p>
          <a:p>
            <a:pPr algn="l" marL="637029" indent="-318515" lvl="1">
              <a:lnSpc>
                <a:spcPts val="4130"/>
              </a:lnSpc>
              <a:buFont typeface="Arial"/>
              <a:buChar char="•"/>
            </a:pPr>
            <a:r>
              <a:rPr lang="en-US" sz="2950">
                <a:solidFill>
                  <a:srgbClr val="000000"/>
                </a:solidFill>
                <a:latin typeface="Noto Sans"/>
                <a:ea typeface="Noto Sans"/>
                <a:cs typeface="Noto Sans"/>
                <a:sym typeface="Noto Sans"/>
              </a:rPr>
              <a:t>Ghép trận</a:t>
            </a:r>
          </a:p>
        </p:txBody>
      </p:sp>
      <p:sp>
        <p:nvSpPr>
          <p:cNvPr name="AutoShape 27" id="27"/>
          <p:cNvSpPr/>
          <p:nvPr/>
        </p:nvSpPr>
        <p:spPr>
          <a:xfrm>
            <a:off x="2291504" y="4925714"/>
            <a:ext cx="3086100" cy="0"/>
          </a:xfrm>
          <a:prstGeom prst="line">
            <a:avLst/>
          </a:prstGeom>
          <a:ln cap="flat" w="38100">
            <a:solidFill>
              <a:srgbClr val="000000"/>
            </a:solidFill>
            <a:prstDash val="solid"/>
            <a:headEnd type="none" len="sm" w="sm"/>
            <a:tailEnd type="none" len="sm" w="sm"/>
          </a:ln>
        </p:spPr>
      </p:sp>
    </p:spTree>
  </p:cSld>
  <p:clrMapOvr>
    <a:masterClrMapping/>
  </p:clrMapOvr>
  <p:transition spd="slow">
    <p:push dir="l"/>
  </p:transition>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495522"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grpSp>
        <p:nvGrpSpPr>
          <p:cNvPr name="Group 16" id="16"/>
          <p:cNvGrpSpPr/>
          <p:nvPr/>
        </p:nvGrpSpPr>
        <p:grpSpPr>
          <a:xfrm rot="0">
            <a:off x="3021553" y="3721885"/>
            <a:ext cx="12244894" cy="873831"/>
            <a:chOff x="0" y="0"/>
            <a:chExt cx="3224993" cy="230145"/>
          </a:xfrm>
        </p:grpSpPr>
        <p:sp>
          <p:nvSpPr>
            <p:cNvPr name="Freeform 17" id="17"/>
            <p:cNvSpPr/>
            <p:nvPr/>
          </p:nvSpPr>
          <p:spPr>
            <a:xfrm flipH="false" flipV="false" rot="0">
              <a:off x="0" y="0"/>
              <a:ext cx="3224993" cy="230145"/>
            </a:xfrm>
            <a:custGeom>
              <a:avLst/>
              <a:gdLst/>
              <a:ahLst/>
              <a:cxnLst/>
              <a:rect r="r" b="b" t="t" l="l"/>
              <a:pathLst>
                <a:path h="230145" w="3224993">
                  <a:moveTo>
                    <a:pt x="0" y="0"/>
                  </a:moveTo>
                  <a:lnTo>
                    <a:pt x="3224993" y="0"/>
                  </a:lnTo>
                  <a:lnTo>
                    <a:pt x="3224993" y="230145"/>
                  </a:lnTo>
                  <a:lnTo>
                    <a:pt x="0" y="230145"/>
                  </a:lnTo>
                  <a:close/>
                </a:path>
              </a:pathLst>
            </a:custGeom>
            <a:solidFill>
              <a:srgbClr val="8AB7E2"/>
            </a:solidFill>
          </p:spPr>
        </p:sp>
        <p:sp>
          <p:nvSpPr>
            <p:cNvPr name="TextBox 18" id="18"/>
            <p:cNvSpPr txBox="true"/>
            <p:nvPr/>
          </p:nvSpPr>
          <p:spPr>
            <a:xfrm>
              <a:off x="0" y="-38100"/>
              <a:ext cx="3224993" cy="268245"/>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3779465" y="3877185"/>
            <a:ext cx="10950298"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rnbqkbnr/pppppppp/8/8/8/8/PPPPPPPP/RNBQKBNR w KQkq 1</a:t>
            </a:r>
          </a:p>
        </p:txBody>
      </p:sp>
      <p:sp>
        <p:nvSpPr>
          <p:cNvPr name="TextBox 20" id="20"/>
          <p:cNvSpPr txBox="true"/>
          <p:nvPr/>
        </p:nvSpPr>
        <p:spPr>
          <a:xfrm rot="0">
            <a:off x="912854" y="2629678"/>
            <a:ext cx="3439478"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Chuẩn FEN </a:t>
            </a:r>
          </a:p>
        </p:txBody>
      </p:sp>
      <p:grpSp>
        <p:nvGrpSpPr>
          <p:cNvPr name="Group 21" id="21"/>
          <p:cNvGrpSpPr/>
          <p:nvPr/>
        </p:nvGrpSpPr>
        <p:grpSpPr>
          <a:xfrm rot="0">
            <a:off x="728921" y="5444441"/>
            <a:ext cx="3086100" cy="1515389"/>
            <a:chOff x="0" y="0"/>
            <a:chExt cx="812800" cy="399115"/>
          </a:xfrm>
        </p:grpSpPr>
        <p:sp>
          <p:nvSpPr>
            <p:cNvPr name="Freeform 22" id="22"/>
            <p:cNvSpPr/>
            <p:nvPr/>
          </p:nvSpPr>
          <p:spPr>
            <a:xfrm flipH="false" flipV="false" rot="0">
              <a:off x="0" y="0"/>
              <a:ext cx="812800" cy="399115"/>
            </a:xfrm>
            <a:custGeom>
              <a:avLst/>
              <a:gdLst/>
              <a:ahLst/>
              <a:cxnLst/>
              <a:rect r="r" b="b" t="t" l="l"/>
              <a:pathLst>
                <a:path h="399115" w="812800">
                  <a:moveTo>
                    <a:pt x="0" y="0"/>
                  </a:moveTo>
                  <a:lnTo>
                    <a:pt x="812800" y="0"/>
                  </a:lnTo>
                  <a:lnTo>
                    <a:pt x="812800" y="399115"/>
                  </a:lnTo>
                  <a:lnTo>
                    <a:pt x="0" y="399115"/>
                  </a:lnTo>
                  <a:close/>
                </a:path>
              </a:pathLst>
            </a:custGeom>
            <a:solidFill>
              <a:srgbClr val="8AB7E2"/>
            </a:solidFill>
          </p:spPr>
        </p:sp>
        <p:sp>
          <p:nvSpPr>
            <p:cNvPr name="TextBox 23" id="23"/>
            <p:cNvSpPr txBox="true"/>
            <p:nvPr/>
          </p:nvSpPr>
          <p:spPr>
            <a:xfrm>
              <a:off x="0" y="-38100"/>
              <a:ext cx="812800"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Các quân cờ đen ngoại trừ quân tốt đen</a:t>
              </a:r>
            </a:p>
          </p:txBody>
        </p:sp>
      </p:grpSp>
      <p:sp>
        <p:nvSpPr>
          <p:cNvPr name="AutoShape 24" id="24"/>
          <p:cNvSpPr/>
          <p:nvPr/>
        </p:nvSpPr>
        <p:spPr>
          <a:xfrm flipV="true">
            <a:off x="1711247" y="4595716"/>
            <a:ext cx="2449232" cy="848725"/>
          </a:xfrm>
          <a:prstGeom prst="line">
            <a:avLst/>
          </a:prstGeom>
          <a:ln cap="flat" w="38100">
            <a:solidFill>
              <a:srgbClr val="000000"/>
            </a:solidFill>
            <a:prstDash val="solid"/>
            <a:headEnd type="none" len="sm" w="sm"/>
            <a:tailEnd type="arrow" len="sm" w="med"/>
          </a:ln>
        </p:spPr>
      </p:sp>
      <p:grpSp>
        <p:nvGrpSpPr>
          <p:cNvPr name="Group 25" id="25"/>
          <p:cNvGrpSpPr/>
          <p:nvPr/>
        </p:nvGrpSpPr>
        <p:grpSpPr>
          <a:xfrm rot="0">
            <a:off x="4352332" y="5444441"/>
            <a:ext cx="2112702" cy="1515389"/>
            <a:chOff x="0" y="0"/>
            <a:chExt cx="556432" cy="399115"/>
          </a:xfrm>
        </p:grpSpPr>
        <p:sp>
          <p:nvSpPr>
            <p:cNvPr name="Freeform 26" id="26"/>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7" id="27"/>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8 quân tốt đen</a:t>
              </a:r>
            </a:p>
          </p:txBody>
        </p:sp>
      </p:grpSp>
      <p:sp>
        <p:nvSpPr>
          <p:cNvPr name="AutoShape 28" id="28"/>
          <p:cNvSpPr/>
          <p:nvPr/>
        </p:nvSpPr>
        <p:spPr>
          <a:xfrm flipV="true">
            <a:off x="5408683" y="4595716"/>
            <a:ext cx="508822" cy="848725"/>
          </a:xfrm>
          <a:prstGeom prst="line">
            <a:avLst/>
          </a:prstGeom>
          <a:ln cap="flat" w="38100">
            <a:solidFill>
              <a:srgbClr val="000000"/>
            </a:solidFill>
            <a:prstDash val="solid"/>
            <a:headEnd type="none" len="sm" w="sm"/>
            <a:tailEnd type="arrow" len="sm" w="med"/>
          </a:ln>
        </p:spPr>
      </p:sp>
      <p:grpSp>
        <p:nvGrpSpPr>
          <p:cNvPr name="Group 29" id="29"/>
          <p:cNvGrpSpPr/>
          <p:nvPr/>
        </p:nvGrpSpPr>
        <p:grpSpPr>
          <a:xfrm rot="0">
            <a:off x="6893659" y="5444441"/>
            <a:ext cx="2112702" cy="1515389"/>
            <a:chOff x="0" y="0"/>
            <a:chExt cx="556432" cy="399115"/>
          </a:xfrm>
        </p:grpSpPr>
        <p:sp>
          <p:nvSpPr>
            <p:cNvPr name="Freeform 30" id="30"/>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1" id="31"/>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8 ô trống</a:t>
              </a:r>
            </a:p>
          </p:txBody>
        </p:sp>
      </p:grpSp>
      <p:sp>
        <p:nvSpPr>
          <p:cNvPr name="AutoShape 32" id="32"/>
          <p:cNvSpPr/>
          <p:nvPr/>
        </p:nvSpPr>
        <p:spPr>
          <a:xfrm flipV="true">
            <a:off x="7950009" y="4595716"/>
            <a:ext cx="71649" cy="848725"/>
          </a:xfrm>
          <a:prstGeom prst="line">
            <a:avLst/>
          </a:prstGeom>
          <a:ln cap="flat" w="38100">
            <a:solidFill>
              <a:srgbClr val="000000"/>
            </a:solidFill>
            <a:prstDash val="solid"/>
            <a:headEnd type="none" len="sm" w="sm"/>
            <a:tailEnd type="arrow" len="sm" w="med"/>
          </a:ln>
        </p:spPr>
      </p:sp>
      <p:grpSp>
        <p:nvGrpSpPr>
          <p:cNvPr name="Group 33" id="33"/>
          <p:cNvGrpSpPr/>
          <p:nvPr/>
        </p:nvGrpSpPr>
        <p:grpSpPr>
          <a:xfrm rot="0">
            <a:off x="9254613" y="5444441"/>
            <a:ext cx="2112702" cy="1515389"/>
            <a:chOff x="0" y="0"/>
            <a:chExt cx="556432" cy="399115"/>
          </a:xfrm>
        </p:grpSpPr>
        <p:sp>
          <p:nvSpPr>
            <p:cNvPr name="Freeform 34" id="34"/>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5" id="35"/>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8 quân tốt trắng</a:t>
              </a:r>
            </a:p>
          </p:txBody>
        </p:sp>
      </p:grpSp>
      <p:sp>
        <p:nvSpPr>
          <p:cNvPr name="AutoShape 36" id="36"/>
          <p:cNvSpPr/>
          <p:nvPr/>
        </p:nvSpPr>
        <p:spPr>
          <a:xfrm flipH="true" flipV="true">
            <a:off x="9974886" y="4595716"/>
            <a:ext cx="336078" cy="848725"/>
          </a:xfrm>
          <a:prstGeom prst="line">
            <a:avLst/>
          </a:prstGeom>
          <a:ln cap="flat" w="38100">
            <a:solidFill>
              <a:srgbClr val="000000"/>
            </a:solidFill>
            <a:prstDash val="solid"/>
            <a:headEnd type="none" len="sm" w="sm"/>
            <a:tailEnd type="arrow" len="sm" w="med"/>
          </a:ln>
        </p:spPr>
      </p:sp>
      <p:grpSp>
        <p:nvGrpSpPr>
          <p:cNvPr name="Group 37" id="37"/>
          <p:cNvGrpSpPr/>
          <p:nvPr/>
        </p:nvGrpSpPr>
        <p:grpSpPr>
          <a:xfrm rot="0">
            <a:off x="11795940" y="5444441"/>
            <a:ext cx="3086100" cy="1515389"/>
            <a:chOff x="0" y="0"/>
            <a:chExt cx="812800" cy="399115"/>
          </a:xfrm>
        </p:grpSpPr>
        <p:sp>
          <p:nvSpPr>
            <p:cNvPr name="Freeform 38" id="38"/>
            <p:cNvSpPr/>
            <p:nvPr/>
          </p:nvSpPr>
          <p:spPr>
            <a:xfrm flipH="false" flipV="false" rot="0">
              <a:off x="0" y="0"/>
              <a:ext cx="812800" cy="399115"/>
            </a:xfrm>
            <a:custGeom>
              <a:avLst/>
              <a:gdLst/>
              <a:ahLst/>
              <a:cxnLst/>
              <a:rect r="r" b="b" t="t" l="l"/>
              <a:pathLst>
                <a:path h="399115" w="812800">
                  <a:moveTo>
                    <a:pt x="0" y="0"/>
                  </a:moveTo>
                  <a:lnTo>
                    <a:pt x="812800" y="0"/>
                  </a:lnTo>
                  <a:lnTo>
                    <a:pt x="812800" y="399115"/>
                  </a:lnTo>
                  <a:lnTo>
                    <a:pt x="0" y="399115"/>
                  </a:lnTo>
                  <a:close/>
                </a:path>
              </a:pathLst>
            </a:custGeom>
            <a:solidFill>
              <a:srgbClr val="8AB7E2"/>
            </a:solidFill>
          </p:spPr>
        </p:sp>
        <p:sp>
          <p:nvSpPr>
            <p:cNvPr name="TextBox 39" id="39"/>
            <p:cNvSpPr txBox="true"/>
            <p:nvPr/>
          </p:nvSpPr>
          <p:spPr>
            <a:xfrm>
              <a:off x="0" y="-38100"/>
              <a:ext cx="812800"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Các quân cờ trắng ngoại trừ quân tốt trắng</a:t>
              </a:r>
            </a:p>
          </p:txBody>
        </p:sp>
      </p:grpSp>
      <p:sp>
        <p:nvSpPr>
          <p:cNvPr name="AutoShape 40" id="40"/>
          <p:cNvSpPr/>
          <p:nvPr/>
        </p:nvSpPr>
        <p:spPr>
          <a:xfrm>
            <a:off x="11561289" y="4595716"/>
            <a:ext cx="942604" cy="942604"/>
          </a:xfrm>
          <a:prstGeom prst="line">
            <a:avLst/>
          </a:prstGeom>
          <a:ln cap="flat" w="38100">
            <a:solidFill>
              <a:srgbClr val="000000"/>
            </a:solidFill>
            <a:prstDash val="solid"/>
            <a:headEnd type="arrow" len="sm" w="med"/>
            <a:tailEnd type="none" len="sm" w="sm"/>
          </a:ln>
        </p:spPr>
      </p:sp>
    </p:spTree>
  </p:cSld>
  <p:clrMapOvr>
    <a:masterClrMapping/>
  </p:clrMapOvr>
  <p:transition spd="slow">
    <p:push dir="l"/>
  </p:transition>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495522"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grpSp>
        <p:nvGrpSpPr>
          <p:cNvPr name="Group 16" id="16"/>
          <p:cNvGrpSpPr/>
          <p:nvPr/>
        </p:nvGrpSpPr>
        <p:grpSpPr>
          <a:xfrm rot="0">
            <a:off x="3021553" y="3721885"/>
            <a:ext cx="12244894" cy="873831"/>
            <a:chOff x="0" y="0"/>
            <a:chExt cx="3224993" cy="230145"/>
          </a:xfrm>
        </p:grpSpPr>
        <p:sp>
          <p:nvSpPr>
            <p:cNvPr name="Freeform 17" id="17"/>
            <p:cNvSpPr/>
            <p:nvPr/>
          </p:nvSpPr>
          <p:spPr>
            <a:xfrm flipH="false" flipV="false" rot="0">
              <a:off x="0" y="0"/>
              <a:ext cx="3224993" cy="230145"/>
            </a:xfrm>
            <a:custGeom>
              <a:avLst/>
              <a:gdLst/>
              <a:ahLst/>
              <a:cxnLst/>
              <a:rect r="r" b="b" t="t" l="l"/>
              <a:pathLst>
                <a:path h="230145" w="3224993">
                  <a:moveTo>
                    <a:pt x="0" y="0"/>
                  </a:moveTo>
                  <a:lnTo>
                    <a:pt x="3224993" y="0"/>
                  </a:lnTo>
                  <a:lnTo>
                    <a:pt x="3224993" y="230145"/>
                  </a:lnTo>
                  <a:lnTo>
                    <a:pt x="0" y="230145"/>
                  </a:lnTo>
                  <a:close/>
                </a:path>
              </a:pathLst>
            </a:custGeom>
            <a:solidFill>
              <a:srgbClr val="8AB7E2"/>
            </a:solidFill>
          </p:spPr>
        </p:sp>
        <p:sp>
          <p:nvSpPr>
            <p:cNvPr name="TextBox 18" id="18"/>
            <p:cNvSpPr txBox="true"/>
            <p:nvPr/>
          </p:nvSpPr>
          <p:spPr>
            <a:xfrm>
              <a:off x="0" y="-38100"/>
              <a:ext cx="3224993" cy="268245"/>
            </a:xfrm>
            <a:prstGeom prst="rect">
              <a:avLst/>
            </a:prstGeom>
          </p:spPr>
          <p:txBody>
            <a:bodyPr anchor="ctr" rtlCol="false" tIns="50800" lIns="50800" bIns="50800" rIns="50800"/>
            <a:lstStyle/>
            <a:p>
              <a:pPr algn="ctr">
                <a:lnSpc>
                  <a:spcPts val="2659"/>
                </a:lnSpc>
              </a:pPr>
            </a:p>
          </p:txBody>
        </p:sp>
      </p:grpSp>
      <p:sp>
        <p:nvSpPr>
          <p:cNvPr name="TextBox 19" id="19"/>
          <p:cNvSpPr txBox="true"/>
          <p:nvPr/>
        </p:nvSpPr>
        <p:spPr>
          <a:xfrm rot="0">
            <a:off x="8380218" y="3877185"/>
            <a:ext cx="1748790" cy="506080"/>
          </a:xfrm>
          <a:prstGeom prst="rect">
            <a:avLst/>
          </a:prstGeom>
        </p:spPr>
        <p:txBody>
          <a:bodyPr anchor="t" rtlCol="false" tIns="0" lIns="0" bIns="0" rIns="0">
            <a:spAutoFit/>
          </a:bodyPr>
          <a:lstStyle/>
          <a:p>
            <a:pPr algn="ctr">
              <a:lnSpc>
                <a:spcPts val="4130"/>
              </a:lnSpc>
              <a:spcBef>
                <a:spcPct val="0"/>
              </a:spcBef>
            </a:pPr>
            <a:r>
              <a:rPr lang="en-US" sz="2950">
                <a:solidFill>
                  <a:srgbClr val="000000"/>
                </a:solidFill>
                <a:latin typeface="Noto Sans"/>
                <a:ea typeface="Noto Sans"/>
                <a:cs typeface="Noto Sans"/>
                <a:sym typeface="Noto Sans"/>
              </a:rPr>
              <a:t> w KQkq 1</a:t>
            </a:r>
          </a:p>
        </p:txBody>
      </p:sp>
      <p:sp>
        <p:nvSpPr>
          <p:cNvPr name="TextBox 20" id="20"/>
          <p:cNvSpPr txBox="true"/>
          <p:nvPr/>
        </p:nvSpPr>
        <p:spPr>
          <a:xfrm rot="0">
            <a:off x="912854" y="2629678"/>
            <a:ext cx="3439478"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Chuẩn FEN </a:t>
            </a:r>
          </a:p>
        </p:txBody>
      </p:sp>
      <p:grpSp>
        <p:nvGrpSpPr>
          <p:cNvPr name="Group 21" id="21"/>
          <p:cNvGrpSpPr/>
          <p:nvPr/>
        </p:nvGrpSpPr>
        <p:grpSpPr>
          <a:xfrm rot="0">
            <a:off x="4861154" y="5330053"/>
            <a:ext cx="2112702" cy="1515389"/>
            <a:chOff x="0" y="0"/>
            <a:chExt cx="556432" cy="399115"/>
          </a:xfrm>
        </p:grpSpPr>
        <p:sp>
          <p:nvSpPr>
            <p:cNvPr name="Freeform 22" id="22"/>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3" id="23"/>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Lượt đi</a:t>
              </a:r>
            </a:p>
          </p:txBody>
        </p:sp>
      </p:grpSp>
      <p:grpSp>
        <p:nvGrpSpPr>
          <p:cNvPr name="Group 24" id="24"/>
          <p:cNvGrpSpPr/>
          <p:nvPr/>
        </p:nvGrpSpPr>
        <p:grpSpPr>
          <a:xfrm rot="0">
            <a:off x="8129349" y="5330053"/>
            <a:ext cx="2112702" cy="1515389"/>
            <a:chOff x="0" y="0"/>
            <a:chExt cx="556432" cy="399115"/>
          </a:xfrm>
        </p:grpSpPr>
        <p:sp>
          <p:nvSpPr>
            <p:cNvPr name="Freeform 25" id="25"/>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26" id="26"/>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Nhập thành</a:t>
              </a:r>
            </a:p>
          </p:txBody>
        </p:sp>
      </p:grpSp>
      <p:sp>
        <p:nvSpPr>
          <p:cNvPr name="AutoShape 27" id="27"/>
          <p:cNvSpPr/>
          <p:nvPr/>
        </p:nvSpPr>
        <p:spPr>
          <a:xfrm flipV="true">
            <a:off x="5525212" y="4595716"/>
            <a:ext cx="2873906" cy="734337"/>
          </a:xfrm>
          <a:prstGeom prst="line">
            <a:avLst/>
          </a:prstGeom>
          <a:ln cap="flat" w="38100">
            <a:solidFill>
              <a:srgbClr val="000000"/>
            </a:solidFill>
            <a:prstDash val="solid"/>
            <a:headEnd type="none" len="sm" w="sm"/>
            <a:tailEnd type="arrow" len="sm" w="med"/>
          </a:ln>
        </p:spPr>
      </p:sp>
      <p:sp>
        <p:nvSpPr>
          <p:cNvPr name="AutoShape 28" id="28"/>
          <p:cNvSpPr/>
          <p:nvPr/>
        </p:nvSpPr>
        <p:spPr>
          <a:xfrm flipH="true" flipV="true">
            <a:off x="9144000" y="4595716"/>
            <a:ext cx="41700" cy="734337"/>
          </a:xfrm>
          <a:prstGeom prst="line">
            <a:avLst/>
          </a:prstGeom>
          <a:ln cap="flat" w="38100">
            <a:solidFill>
              <a:srgbClr val="000000"/>
            </a:solidFill>
            <a:prstDash val="solid"/>
            <a:headEnd type="none" len="sm" w="sm"/>
            <a:tailEnd type="arrow" len="sm" w="med"/>
          </a:ln>
        </p:spPr>
      </p:sp>
      <p:grpSp>
        <p:nvGrpSpPr>
          <p:cNvPr name="Group 29" id="29"/>
          <p:cNvGrpSpPr/>
          <p:nvPr/>
        </p:nvGrpSpPr>
        <p:grpSpPr>
          <a:xfrm rot="0">
            <a:off x="11120719" y="5330053"/>
            <a:ext cx="2112702" cy="1515389"/>
            <a:chOff x="0" y="0"/>
            <a:chExt cx="556432" cy="399115"/>
          </a:xfrm>
        </p:grpSpPr>
        <p:sp>
          <p:nvSpPr>
            <p:cNvPr name="Freeform 30" id="30"/>
            <p:cNvSpPr/>
            <p:nvPr/>
          </p:nvSpPr>
          <p:spPr>
            <a:xfrm flipH="false" flipV="false" rot="0">
              <a:off x="0" y="0"/>
              <a:ext cx="556432" cy="399115"/>
            </a:xfrm>
            <a:custGeom>
              <a:avLst/>
              <a:gdLst/>
              <a:ahLst/>
              <a:cxnLst/>
              <a:rect r="r" b="b" t="t" l="l"/>
              <a:pathLst>
                <a:path h="399115" w="556432">
                  <a:moveTo>
                    <a:pt x="0" y="0"/>
                  </a:moveTo>
                  <a:lnTo>
                    <a:pt x="556432" y="0"/>
                  </a:lnTo>
                  <a:lnTo>
                    <a:pt x="556432" y="399115"/>
                  </a:lnTo>
                  <a:lnTo>
                    <a:pt x="0" y="399115"/>
                  </a:lnTo>
                  <a:close/>
                </a:path>
              </a:pathLst>
            </a:custGeom>
            <a:solidFill>
              <a:srgbClr val="8AB7E2"/>
            </a:solidFill>
          </p:spPr>
        </p:sp>
        <p:sp>
          <p:nvSpPr>
            <p:cNvPr name="TextBox 31" id="31"/>
            <p:cNvSpPr txBox="true"/>
            <p:nvPr/>
          </p:nvSpPr>
          <p:spPr>
            <a:xfrm>
              <a:off x="0" y="-38100"/>
              <a:ext cx="556432" cy="437215"/>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Số thứ tự nước đi</a:t>
              </a:r>
            </a:p>
          </p:txBody>
        </p:sp>
      </p:grpSp>
      <p:sp>
        <p:nvSpPr>
          <p:cNvPr name="AutoShape 32" id="32"/>
          <p:cNvSpPr/>
          <p:nvPr/>
        </p:nvSpPr>
        <p:spPr>
          <a:xfrm>
            <a:off x="10034823" y="4595716"/>
            <a:ext cx="2142247" cy="734337"/>
          </a:xfrm>
          <a:prstGeom prst="line">
            <a:avLst/>
          </a:prstGeom>
          <a:ln cap="flat" w="38100">
            <a:solidFill>
              <a:srgbClr val="000000"/>
            </a:solidFill>
            <a:prstDash val="solid"/>
            <a:headEnd type="arrow" len="sm" w="med"/>
            <a:tailEnd type="none" len="sm" w="sm"/>
          </a:ln>
        </p:spPr>
      </p:sp>
    </p:spTree>
  </p:cSld>
  <p:clrMapOvr>
    <a:masterClrMapping/>
  </p:clrMapOvr>
  <p:transition spd="slow">
    <p:push dir="l"/>
  </p:transition>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4807208" y="3926020"/>
            <a:ext cx="8673584" cy="4041102"/>
          </a:xfrm>
          <a:custGeom>
            <a:avLst/>
            <a:gdLst/>
            <a:ahLst/>
            <a:cxnLst/>
            <a:rect r="r" b="b" t="t" l="l"/>
            <a:pathLst>
              <a:path h="4041102" w="8673584">
                <a:moveTo>
                  <a:pt x="0" y="0"/>
                </a:moveTo>
                <a:lnTo>
                  <a:pt x="8673584" y="0"/>
                </a:lnTo>
                <a:lnTo>
                  <a:pt x="8673584" y="4041102"/>
                </a:lnTo>
                <a:lnTo>
                  <a:pt x="0" y="4041102"/>
                </a:lnTo>
                <a:lnTo>
                  <a:pt x="0" y="0"/>
                </a:lnTo>
                <a:close/>
              </a:path>
            </a:pathLst>
          </a:custGeom>
          <a:blipFill>
            <a:blip r:embed="rId28"/>
            <a:stretch>
              <a:fillRect l="0" t="0" r="0" b="0"/>
            </a:stretch>
          </a:blipFill>
        </p:spPr>
      </p:sp>
      <p:sp>
        <p:nvSpPr>
          <p:cNvPr name="TextBox 16" id="16"/>
          <p:cNvSpPr txBox="true"/>
          <p:nvPr/>
        </p:nvSpPr>
        <p:spPr>
          <a:xfrm rot="0">
            <a:off x="-925232" y="1635900"/>
            <a:ext cx="9268864"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 </a:t>
            </a:r>
          </a:p>
        </p:txBody>
      </p:sp>
      <p:sp>
        <p:nvSpPr>
          <p:cNvPr name="TextBox 17" id="17"/>
          <p:cNvSpPr txBox="true"/>
          <p:nvPr/>
        </p:nvSpPr>
        <p:spPr>
          <a:xfrm rot="0">
            <a:off x="912854" y="2629678"/>
            <a:ext cx="699611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Tính điểm ELO và hệ số K </a:t>
            </a:r>
          </a:p>
        </p:txBody>
      </p:sp>
    </p:spTree>
  </p:cSld>
  <p:clrMapOvr>
    <a:masterClrMapping/>
  </p:clrMapOvr>
  <p:transition spd="slow">
    <p:push dir="l"/>
  </p:transition>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 Cơ sở lý thuyết</a:t>
            </a:r>
          </a:p>
        </p:txBody>
      </p:sp>
      <p:sp>
        <p:nvSpPr>
          <p:cNvPr name="TextBox 16" id="16"/>
          <p:cNvSpPr txBox="true"/>
          <p:nvPr/>
        </p:nvSpPr>
        <p:spPr>
          <a:xfrm rot="0">
            <a:off x="912854" y="2629678"/>
            <a:ext cx="699611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Tính điểm ELO và hệ số K </a:t>
            </a:r>
          </a:p>
        </p:txBody>
      </p:sp>
      <p:sp>
        <p:nvSpPr>
          <p:cNvPr name="Freeform 17" id="17"/>
          <p:cNvSpPr/>
          <p:nvPr/>
        </p:nvSpPr>
        <p:spPr>
          <a:xfrm flipH="false" flipV="false" rot="0">
            <a:off x="4136549" y="3718703"/>
            <a:ext cx="9456495" cy="1503785"/>
          </a:xfrm>
          <a:custGeom>
            <a:avLst/>
            <a:gdLst/>
            <a:ahLst/>
            <a:cxnLst/>
            <a:rect r="r" b="b" t="t" l="l"/>
            <a:pathLst>
              <a:path h="1503785" w="9456495">
                <a:moveTo>
                  <a:pt x="0" y="0"/>
                </a:moveTo>
                <a:lnTo>
                  <a:pt x="9456496" y="0"/>
                </a:lnTo>
                <a:lnTo>
                  <a:pt x="9456496" y="1503785"/>
                </a:lnTo>
                <a:lnTo>
                  <a:pt x="0" y="1503785"/>
                </a:lnTo>
                <a:lnTo>
                  <a:pt x="0" y="0"/>
                </a:lnTo>
                <a:close/>
              </a:path>
            </a:pathLst>
          </a:custGeom>
          <a:blipFill>
            <a:blip r:embed="rId28"/>
            <a:stretch>
              <a:fillRect l="0" t="0" r="0" b="0"/>
            </a:stretch>
          </a:blipFill>
        </p:spPr>
      </p:sp>
      <p:grpSp>
        <p:nvGrpSpPr>
          <p:cNvPr name="Group 18" id="18"/>
          <p:cNvGrpSpPr/>
          <p:nvPr/>
        </p:nvGrpSpPr>
        <p:grpSpPr>
          <a:xfrm rot="0">
            <a:off x="817735" y="5801519"/>
            <a:ext cx="3086100" cy="1117180"/>
            <a:chOff x="0" y="0"/>
            <a:chExt cx="812800" cy="294237"/>
          </a:xfrm>
        </p:grpSpPr>
        <p:sp>
          <p:nvSpPr>
            <p:cNvPr name="Freeform 19" id="19"/>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0" id="20"/>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ELO &lt; 1600</a:t>
              </a:r>
            </a:p>
          </p:txBody>
        </p:sp>
      </p:grpSp>
      <p:grpSp>
        <p:nvGrpSpPr>
          <p:cNvPr name="Group 21" id="21"/>
          <p:cNvGrpSpPr/>
          <p:nvPr/>
        </p:nvGrpSpPr>
        <p:grpSpPr>
          <a:xfrm rot="5400000">
            <a:off x="4449198" y="5925037"/>
            <a:ext cx="870146" cy="870146"/>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23" id="23"/>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24" id="24"/>
          <p:cNvGrpSpPr/>
          <p:nvPr/>
        </p:nvGrpSpPr>
        <p:grpSpPr>
          <a:xfrm rot="0">
            <a:off x="5818473" y="5795015"/>
            <a:ext cx="3086100" cy="1117180"/>
            <a:chOff x="0" y="0"/>
            <a:chExt cx="812800" cy="294237"/>
          </a:xfrm>
        </p:grpSpPr>
        <p:sp>
          <p:nvSpPr>
            <p:cNvPr name="Freeform 25" id="25"/>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6" id="26"/>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32</a:t>
              </a:r>
            </a:p>
          </p:txBody>
        </p:sp>
      </p:grpSp>
      <p:grpSp>
        <p:nvGrpSpPr>
          <p:cNvPr name="Group 27" id="27"/>
          <p:cNvGrpSpPr/>
          <p:nvPr/>
        </p:nvGrpSpPr>
        <p:grpSpPr>
          <a:xfrm rot="0">
            <a:off x="817735" y="7328275"/>
            <a:ext cx="3086100" cy="1117180"/>
            <a:chOff x="0" y="0"/>
            <a:chExt cx="812800" cy="294237"/>
          </a:xfrm>
        </p:grpSpPr>
        <p:sp>
          <p:nvSpPr>
            <p:cNvPr name="Freeform 28" id="28"/>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29" id="29"/>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1600 &lt;= Elo &lt; 2400</a:t>
              </a:r>
            </a:p>
          </p:txBody>
        </p:sp>
      </p:grpSp>
      <p:grpSp>
        <p:nvGrpSpPr>
          <p:cNvPr name="Group 30" id="30"/>
          <p:cNvGrpSpPr/>
          <p:nvPr/>
        </p:nvGrpSpPr>
        <p:grpSpPr>
          <a:xfrm rot="5400000">
            <a:off x="4449198" y="7451792"/>
            <a:ext cx="870146" cy="870146"/>
            <a:chOff x="0" y="0"/>
            <a:chExt cx="812800" cy="812800"/>
          </a:xfrm>
        </p:grpSpPr>
        <p:sp>
          <p:nvSpPr>
            <p:cNvPr name="Freeform 31" id="31"/>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2" id="32"/>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3" id="33"/>
          <p:cNvGrpSpPr/>
          <p:nvPr/>
        </p:nvGrpSpPr>
        <p:grpSpPr>
          <a:xfrm rot="0">
            <a:off x="5818473" y="7328275"/>
            <a:ext cx="3086100" cy="1117180"/>
            <a:chOff x="0" y="0"/>
            <a:chExt cx="812800" cy="294237"/>
          </a:xfrm>
        </p:grpSpPr>
        <p:sp>
          <p:nvSpPr>
            <p:cNvPr name="Freeform 34" id="34"/>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35" id="35"/>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24</a:t>
              </a:r>
            </a:p>
          </p:txBody>
        </p:sp>
      </p:grpSp>
      <p:grpSp>
        <p:nvGrpSpPr>
          <p:cNvPr name="Group 36" id="36"/>
          <p:cNvGrpSpPr/>
          <p:nvPr/>
        </p:nvGrpSpPr>
        <p:grpSpPr>
          <a:xfrm rot="0">
            <a:off x="9399873" y="6430911"/>
            <a:ext cx="3086100" cy="1117180"/>
            <a:chOff x="0" y="0"/>
            <a:chExt cx="812800" cy="294237"/>
          </a:xfrm>
        </p:grpSpPr>
        <p:sp>
          <p:nvSpPr>
            <p:cNvPr name="Freeform 37" id="37"/>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38" id="38"/>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 Elo &gt;= 2400</a:t>
              </a:r>
            </a:p>
          </p:txBody>
        </p:sp>
      </p:grpSp>
      <p:grpSp>
        <p:nvGrpSpPr>
          <p:cNvPr name="Group 39" id="39"/>
          <p:cNvGrpSpPr/>
          <p:nvPr/>
        </p:nvGrpSpPr>
        <p:grpSpPr>
          <a:xfrm rot="5400000">
            <a:off x="13031336" y="6554429"/>
            <a:ext cx="870146" cy="870146"/>
            <a:chOff x="0" y="0"/>
            <a:chExt cx="812800" cy="812800"/>
          </a:xfrm>
        </p:grpSpPr>
        <p:sp>
          <p:nvSpPr>
            <p:cNvPr name="Freeform 40" id="40"/>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41" id="41"/>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42" id="42"/>
          <p:cNvGrpSpPr/>
          <p:nvPr/>
        </p:nvGrpSpPr>
        <p:grpSpPr>
          <a:xfrm rot="0">
            <a:off x="14400611" y="6430911"/>
            <a:ext cx="3086100" cy="1117180"/>
            <a:chOff x="0" y="0"/>
            <a:chExt cx="812800" cy="294237"/>
          </a:xfrm>
        </p:grpSpPr>
        <p:sp>
          <p:nvSpPr>
            <p:cNvPr name="Freeform 43" id="43"/>
            <p:cNvSpPr/>
            <p:nvPr/>
          </p:nvSpPr>
          <p:spPr>
            <a:xfrm flipH="false" flipV="false" rot="0">
              <a:off x="0" y="0"/>
              <a:ext cx="812800" cy="294237"/>
            </a:xfrm>
            <a:custGeom>
              <a:avLst/>
              <a:gdLst/>
              <a:ahLst/>
              <a:cxnLst/>
              <a:rect r="r" b="b" t="t" l="l"/>
              <a:pathLst>
                <a:path h="294237" w="812800">
                  <a:moveTo>
                    <a:pt x="0" y="0"/>
                  </a:moveTo>
                  <a:lnTo>
                    <a:pt x="812800" y="0"/>
                  </a:lnTo>
                  <a:lnTo>
                    <a:pt x="812800" y="294237"/>
                  </a:lnTo>
                  <a:lnTo>
                    <a:pt x="0" y="294237"/>
                  </a:lnTo>
                  <a:close/>
                </a:path>
              </a:pathLst>
            </a:custGeom>
            <a:solidFill>
              <a:srgbClr val="8AB7E2"/>
            </a:solidFill>
          </p:spPr>
        </p:sp>
        <p:sp>
          <p:nvSpPr>
            <p:cNvPr name="TextBox 44" id="44"/>
            <p:cNvSpPr txBox="true"/>
            <p:nvPr/>
          </p:nvSpPr>
          <p:spPr>
            <a:xfrm>
              <a:off x="0" y="-38100"/>
              <a:ext cx="812800" cy="332337"/>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 = 16</a:t>
              </a:r>
            </a:p>
          </p:txBody>
        </p:sp>
      </p:grpSp>
    </p:spTree>
  </p:cSld>
  <p:clrMapOvr>
    <a:masterClrMapping/>
  </p:clrMapOvr>
  <p:transition spd="slow">
    <p:push dir="l"/>
  </p:transition>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6773028" y="2516101"/>
            <a:ext cx="8938526" cy="6401597"/>
          </a:xfrm>
          <a:custGeom>
            <a:avLst/>
            <a:gdLst/>
            <a:ahLst/>
            <a:cxnLst/>
            <a:rect r="r" b="b" t="t" l="l"/>
            <a:pathLst>
              <a:path h="6401597" w="8938526">
                <a:moveTo>
                  <a:pt x="0" y="0"/>
                </a:moveTo>
                <a:lnTo>
                  <a:pt x="8938527" y="0"/>
                </a:lnTo>
                <a:lnTo>
                  <a:pt x="8938527" y="6401598"/>
                </a:lnTo>
                <a:lnTo>
                  <a:pt x="0" y="6401598"/>
                </a:lnTo>
                <a:lnTo>
                  <a:pt x="0" y="0"/>
                </a:lnTo>
                <a:close/>
              </a:path>
            </a:pathLst>
          </a:custGeom>
          <a:blipFill>
            <a:blip r:embed="rId28"/>
            <a:stretch>
              <a:fillRect l="0" t="0" r="0" b="0"/>
            </a:stretch>
          </a:blipFill>
        </p:spPr>
      </p:sp>
      <p:sp>
        <p:nvSpPr>
          <p:cNvPr name="TextBox 16" id="16"/>
          <p:cNvSpPr txBox="true"/>
          <p:nvPr/>
        </p:nvSpPr>
        <p:spPr>
          <a:xfrm rot="0">
            <a:off x="912854" y="1468475"/>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7" id="17"/>
          <p:cNvSpPr txBox="true"/>
          <p:nvPr/>
        </p:nvSpPr>
        <p:spPr>
          <a:xfrm rot="0">
            <a:off x="912854" y="2629678"/>
            <a:ext cx="3880604"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Cơ sở dữ liệu</a:t>
            </a:r>
          </a:p>
        </p:txBody>
      </p:sp>
    </p:spTree>
  </p:cSld>
  <p:clrMapOvr>
    <a:masterClrMapping/>
  </p:clrMapOvr>
  <p:transition spd="slow">
    <p:push dir="l"/>
  </p:transition>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6" id="16"/>
          <p:cNvSpPr txBox="true"/>
          <p:nvPr/>
        </p:nvSpPr>
        <p:spPr>
          <a:xfrm rot="0">
            <a:off x="912854" y="2629678"/>
            <a:ext cx="7201614"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(Tìm trận)</a:t>
            </a:r>
          </a:p>
        </p:txBody>
      </p:sp>
      <p:grpSp>
        <p:nvGrpSpPr>
          <p:cNvPr name="Group 17" id="17"/>
          <p:cNvGrpSpPr/>
          <p:nvPr/>
        </p:nvGrpSpPr>
        <p:grpSpPr>
          <a:xfrm rot="0">
            <a:off x="2071469" y="4294833"/>
            <a:ext cx="3086100" cy="3086100"/>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19" id="19"/>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Client A và B gửi sự kiện “find-match”</a:t>
              </a:r>
            </a:p>
          </p:txBody>
        </p:sp>
      </p:grpSp>
      <p:sp>
        <p:nvSpPr>
          <p:cNvPr name="TextBox 20" id="20"/>
          <p:cNvSpPr txBox="true"/>
          <p:nvPr/>
        </p:nvSpPr>
        <p:spPr>
          <a:xfrm rot="0">
            <a:off x="2071469"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Phát tín hiệu</a:t>
            </a:r>
          </a:p>
        </p:txBody>
      </p:sp>
      <p:grpSp>
        <p:nvGrpSpPr>
          <p:cNvPr name="Group 21" id="21"/>
          <p:cNvGrpSpPr/>
          <p:nvPr/>
        </p:nvGrpSpPr>
        <p:grpSpPr>
          <a:xfrm rot="0">
            <a:off x="6057900" y="4294833"/>
            <a:ext cx="3086100" cy="3086100"/>
            <a:chOff x="0" y="0"/>
            <a:chExt cx="812800" cy="812800"/>
          </a:xfrm>
        </p:grpSpPr>
        <p:sp>
          <p:nvSpPr>
            <p:cNvPr name="Freeform 22" id="22"/>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23" id="23"/>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Node.js hứng và nạp mảng “waitingPlayers” vào Ram</a:t>
              </a:r>
            </a:p>
          </p:txBody>
        </p:sp>
      </p:grpSp>
      <p:sp>
        <p:nvSpPr>
          <p:cNvPr name="TextBox 24" id="24"/>
          <p:cNvSpPr txBox="true"/>
          <p:nvPr/>
        </p:nvSpPr>
        <p:spPr>
          <a:xfrm rot="0">
            <a:off x="6057900"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Ram</a:t>
            </a:r>
          </a:p>
        </p:txBody>
      </p:sp>
      <p:grpSp>
        <p:nvGrpSpPr>
          <p:cNvPr name="Group 25" id="25"/>
          <p:cNvGrpSpPr/>
          <p:nvPr/>
        </p:nvGrpSpPr>
        <p:grpSpPr>
          <a:xfrm rot="0">
            <a:off x="10002096" y="4294833"/>
            <a:ext cx="3086100" cy="3086100"/>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27" id="27"/>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Vòng lặp kiểm tra cho đến khi điều kiện length &gt;= 2</a:t>
              </a:r>
            </a:p>
          </p:txBody>
        </p:sp>
      </p:grpSp>
      <p:sp>
        <p:nvSpPr>
          <p:cNvPr name="TextBox 28" id="28"/>
          <p:cNvSpPr txBox="true"/>
          <p:nvPr/>
        </p:nvSpPr>
        <p:spPr>
          <a:xfrm rot="0">
            <a:off x="10002096" y="4237683"/>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Bắt cặp</a:t>
            </a:r>
          </a:p>
        </p:txBody>
      </p:sp>
      <p:grpSp>
        <p:nvGrpSpPr>
          <p:cNvPr name="Group 29" id="29"/>
          <p:cNvGrpSpPr/>
          <p:nvPr/>
        </p:nvGrpSpPr>
        <p:grpSpPr>
          <a:xfrm rot="0">
            <a:off x="13946292" y="4294833"/>
            <a:ext cx="3086100" cy="3086100"/>
            <a:chOff x="0" y="0"/>
            <a:chExt cx="812800" cy="812800"/>
          </a:xfrm>
        </p:grpSpPr>
        <p:sp>
          <p:nvSpPr>
            <p:cNvPr name="Freeform 30" id="30"/>
            <p:cNvSpPr/>
            <p:nvPr/>
          </p:nvSpPr>
          <p:spPr>
            <a:xfrm flipH="false" flipV="false" rot="0">
              <a:off x="0" y="0"/>
              <a:ext cx="812800" cy="812800"/>
            </a:xfrm>
            <a:custGeom>
              <a:avLst/>
              <a:gdLst/>
              <a:ahLst/>
              <a:cxnLst/>
              <a:rect r="r" b="b" t="t" l="l"/>
              <a:pathLst>
                <a:path h="812800" w="812800">
                  <a:moveTo>
                    <a:pt x="0" y="0"/>
                  </a:moveTo>
                  <a:lnTo>
                    <a:pt x="812800" y="0"/>
                  </a:lnTo>
                  <a:lnTo>
                    <a:pt x="812800" y="812800"/>
                  </a:lnTo>
                  <a:lnTo>
                    <a:pt x="0" y="812800"/>
                  </a:lnTo>
                  <a:close/>
                </a:path>
              </a:pathLst>
            </a:custGeom>
            <a:solidFill>
              <a:srgbClr val="8AB7E2"/>
            </a:solidFill>
          </p:spPr>
        </p:sp>
        <p:sp>
          <p:nvSpPr>
            <p:cNvPr name="TextBox 31" id="31"/>
            <p:cNvSpPr txBox="true"/>
            <p:nvPr/>
          </p:nvSpPr>
          <p:spPr>
            <a:xfrm>
              <a:off x="0" y="-38100"/>
              <a:ext cx="812800" cy="85090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Sinh ra ID trận đấu, đẩy 2 client vào phòng</a:t>
              </a:r>
            </a:p>
          </p:txBody>
        </p:sp>
      </p:grpSp>
      <p:sp>
        <p:nvSpPr>
          <p:cNvPr name="TextBox 32" id="32"/>
          <p:cNvSpPr txBox="true"/>
          <p:nvPr/>
        </p:nvSpPr>
        <p:spPr>
          <a:xfrm rot="0">
            <a:off x="13946292" y="4282451"/>
            <a:ext cx="3086100" cy="481331"/>
          </a:xfrm>
          <a:prstGeom prst="rect">
            <a:avLst/>
          </a:prstGeom>
        </p:spPr>
        <p:txBody>
          <a:bodyPr anchor="t" rtlCol="false" tIns="0" lIns="0" bIns="0" rIns="0">
            <a:spAutoFit/>
          </a:bodyPr>
          <a:lstStyle/>
          <a:p>
            <a:pPr algn="ctr">
              <a:lnSpc>
                <a:spcPts val="3919"/>
              </a:lnSpc>
              <a:spcBef>
                <a:spcPct val="0"/>
              </a:spcBef>
            </a:pPr>
            <a:r>
              <a:rPr lang="en-US" sz="2799">
                <a:solidFill>
                  <a:srgbClr val="000000"/>
                </a:solidFill>
                <a:latin typeface="Noto Sans"/>
                <a:ea typeface="Noto Sans"/>
                <a:cs typeface="Noto Sans"/>
                <a:sym typeface="Noto Sans"/>
              </a:rPr>
              <a:t>Khởi tạo trận đấu</a:t>
            </a:r>
          </a:p>
        </p:txBody>
      </p:sp>
      <p:grpSp>
        <p:nvGrpSpPr>
          <p:cNvPr name="Group 33" id="33"/>
          <p:cNvGrpSpPr/>
          <p:nvPr/>
        </p:nvGrpSpPr>
        <p:grpSpPr>
          <a:xfrm rot="5400000">
            <a:off x="5278090" y="5508239"/>
            <a:ext cx="659289" cy="659289"/>
            <a:chOff x="0" y="0"/>
            <a:chExt cx="812800" cy="812800"/>
          </a:xfrm>
        </p:grpSpPr>
        <p:sp>
          <p:nvSpPr>
            <p:cNvPr name="Freeform 34" id="34"/>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5" id="35"/>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6" id="36"/>
          <p:cNvGrpSpPr/>
          <p:nvPr/>
        </p:nvGrpSpPr>
        <p:grpSpPr>
          <a:xfrm rot="5400000">
            <a:off x="9243403" y="5508239"/>
            <a:ext cx="659289" cy="659289"/>
            <a:chOff x="0" y="0"/>
            <a:chExt cx="812800" cy="812800"/>
          </a:xfrm>
        </p:grpSpPr>
        <p:sp>
          <p:nvSpPr>
            <p:cNvPr name="Freeform 37" id="37"/>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38" id="38"/>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grpSp>
        <p:nvGrpSpPr>
          <p:cNvPr name="Group 39" id="39"/>
          <p:cNvGrpSpPr/>
          <p:nvPr/>
        </p:nvGrpSpPr>
        <p:grpSpPr>
          <a:xfrm rot="5400000">
            <a:off x="13183446" y="5616926"/>
            <a:ext cx="659289" cy="659289"/>
            <a:chOff x="0" y="0"/>
            <a:chExt cx="812800" cy="812800"/>
          </a:xfrm>
        </p:grpSpPr>
        <p:sp>
          <p:nvSpPr>
            <p:cNvPr name="Freeform 40" id="40"/>
            <p:cNvSpPr/>
            <p:nvPr/>
          </p:nvSpPr>
          <p:spPr>
            <a:xfrm flipH="false" flipV="false" rot="0">
              <a:off x="0" y="0"/>
              <a:ext cx="812800" cy="812800"/>
            </a:xfrm>
            <a:custGeom>
              <a:avLst/>
              <a:gdLst/>
              <a:ahLst/>
              <a:cxnLst/>
              <a:rect r="r" b="b" t="t" l="l"/>
              <a:pathLst>
                <a:path h="812800" w="812800">
                  <a:moveTo>
                    <a:pt x="406400" y="0"/>
                  </a:moveTo>
                  <a:lnTo>
                    <a:pt x="0" y="406400"/>
                  </a:lnTo>
                  <a:lnTo>
                    <a:pt x="203200" y="406400"/>
                  </a:lnTo>
                  <a:lnTo>
                    <a:pt x="203200" y="812800"/>
                  </a:lnTo>
                  <a:lnTo>
                    <a:pt x="609600" y="812800"/>
                  </a:lnTo>
                  <a:lnTo>
                    <a:pt x="609600" y="406400"/>
                  </a:lnTo>
                  <a:lnTo>
                    <a:pt x="812800" y="406400"/>
                  </a:lnTo>
                  <a:lnTo>
                    <a:pt x="406400" y="0"/>
                  </a:lnTo>
                  <a:close/>
                </a:path>
              </a:pathLst>
            </a:custGeom>
            <a:solidFill>
              <a:srgbClr val="8AB7E2"/>
            </a:solidFill>
          </p:spPr>
        </p:sp>
        <p:sp>
          <p:nvSpPr>
            <p:cNvPr name="TextBox 41" id="41"/>
            <p:cNvSpPr txBox="true"/>
            <p:nvPr/>
          </p:nvSpPr>
          <p:spPr>
            <a:xfrm>
              <a:off x="203200" y="63500"/>
              <a:ext cx="406400" cy="749300"/>
            </a:xfrm>
            <a:prstGeom prst="rect">
              <a:avLst/>
            </a:prstGeom>
          </p:spPr>
          <p:txBody>
            <a:bodyPr anchor="ctr" rtlCol="false" tIns="50800" lIns="50800" bIns="50800" rIns="50800"/>
            <a:lstStyle/>
            <a:p>
              <a:pPr algn="ctr">
                <a:lnSpc>
                  <a:spcPts val="3079"/>
                </a:lnSpc>
              </a:pPr>
            </a:p>
          </p:txBody>
        </p:sp>
      </p:grpSp>
    </p:spTree>
  </p:cSld>
  <p:clrMapOvr>
    <a:masterClrMapping/>
  </p:clrMapOvr>
  <p:transition spd="slow">
    <p:push dir="l"/>
  </p:transition>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Freeform 15" id="15"/>
          <p:cNvSpPr/>
          <p:nvPr/>
        </p:nvSpPr>
        <p:spPr>
          <a:xfrm flipH="false" flipV="false" rot="0">
            <a:off x="1817316" y="4436598"/>
            <a:ext cx="2815536" cy="1679083"/>
          </a:xfrm>
          <a:custGeom>
            <a:avLst/>
            <a:gdLst/>
            <a:ahLst/>
            <a:cxnLst/>
            <a:rect r="r" b="b" t="t" l="l"/>
            <a:pathLst>
              <a:path h="1679083" w="2815536">
                <a:moveTo>
                  <a:pt x="0" y="0"/>
                </a:moveTo>
                <a:lnTo>
                  <a:pt x="2815536" y="0"/>
                </a:lnTo>
                <a:lnTo>
                  <a:pt x="2815536" y="1679083"/>
                </a:lnTo>
                <a:lnTo>
                  <a:pt x="0" y="1679083"/>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6" id="16"/>
          <p:cNvSpPr/>
          <p:nvPr/>
        </p:nvSpPr>
        <p:spPr>
          <a:xfrm flipH="false" flipV="false" rot="0">
            <a:off x="7907772" y="4480703"/>
            <a:ext cx="1644546" cy="1864949"/>
          </a:xfrm>
          <a:custGeom>
            <a:avLst/>
            <a:gdLst/>
            <a:ahLst/>
            <a:cxnLst/>
            <a:rect r="r" b="b" t="t" l="l"/>
            <a:pathLst>
              <a:path h="1864949" w="1644546">
                <a:moveTo>
                  <a:pt x="0" y="0"/>
                </a:moveTo>
                <a:lnTo>
                  <a:pt x="1644545" y="0"/>
                </a:lnTo>
                <a:lnTo>
                  <a:pt x="1644545" y="1864949"/>
                </a:lnTo>
                <a:lnTo>
                  <a:pt x="0" y="1864949"/>
                </a:lnTo>
                <a:lnTo>
                  <a:pt x="0" y="0"/>
                </a:lnTo>
                <a:close/>
              </a:path>
            </a:pathLst>
          </a:custGeom>
          <a:blipFill>
            <a:blip r:embed="rId30">
              <a:extLst>
                <a:ext uri="{96DAC541-7B7A-43D3-8B79-37D633B846F1}">
                  <asvg:svgBlip xmlns:asvg="http://schemas.microsoft.com/office/drawing/2016/SVG/main" r:embed="rId31"/>
                </a:ext>
              </a:extLst>
            </a:blip>
            <a:stretch>
              <a:fillRect l="0" t="0" r="0" b="0"/>
            </a:stretch>
          </a:blipFill>
        </p:spPr>
      </p:sp>
      <p:sp>
        <p:nvSpPr>
          <p:cNvPr name="TextBox 17" id="17"/>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8" id="18"/>
          <p:cNvSpPr txBox="true"/>
          <p:nvPr/>
        </p:nvSpPr>
        <p:spPr>
          <a:xfrm rot="0">
            <a:off x="912854" y="2629678"/>
            <a:ext cx="9218057"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(Đồng bộ nước đi)</a:t>
            </a:r>
          </a:p>
        </p:txBody>
      </p:sp>
      <p:sp>
        <p:nvSpPr>
          <p:cNvPr name="Freeform 19" id="19"/>
          <p:cNvSpPr/>
          <p:nvPr/>
        </p:nvSpPr>
        <p:spPr>
          <a:xfrm flipH="false" flipV="false" rot="0">
            <a:off x="12446347" y="4480703"/>
            <a:ext cx="2815536" cy="1679083"/>
          </a:xfrm>
          <a:custGeom>
            <a:avLst/>
            <a:gdLst/>
            <a:ahLst/>
            <a:cxnLst/>
            <a:rect r="r" b="b" t="t" l="l"/>
            <a:pathLst>
              <a:path h="1679083" w="2815536">
                <a:moveTo>
                  <a:pt x="0" y="0"/>
                </a:moveTo>
                <a:lnTo>
                  <a:pt x="2815536" y="0"/>
                </a:lnTo>
                <a:lnTo>
                  <a:pt x="2815536" y="1679083"/>
                </a:lnTo>
                <a:lnTo>
                  <a:pt x="0" y="1679083"/>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AutoShape 20" id="20"/>
          <p:cNvSpPr/>
          <p:nvPr/>
        </p:nvSpPr>
        <p:spPr>
          <a:xfrm>
            <a:off x="4990571" y="5143500"/>
            <a:ext cx="2665432" cy="0"/>
          </a:xfrm>
          <a:prstGeom prst="line">
            <a:avLst/>
          </a:prstGeom>
          <a:ln cap="flat" w="38100">
            <a:solidFill>
              <a:srgbClr val="000000"/>
            </a:solidFill>
            <a:prstDash val="solid"/>
            <a:headEnd type="none" len="sm" w="sm"/>
            <a:tailEnd type="arrow" len="sm" w="med"/>
          </a:ln>
        </p:spPr>
      </p:sp>
      <p:sp>
        <p:nvSpPr>
          <p:cNvPr name="AutoShape 21" id="21"/>
          <p:cNvSpPr/>
          <p:nvPr/>
        </p:nvSpPr>
        <p:spPr>
          <a:xfrm>
            <a:off x="9843216" y="5143500"/>
            <a:ext cx="2333855" cy="0"/>
          </a:xfrm>
          <a:prstGeom prst="line">
            <a:avLst/>
          </a:prstGeom>
          <a:ln cap="flat" w="38100">
            <a:solidFill>
              <a:srgbClr val="000000"/>
            </a:solidFill>
            <a:prstDash val="solid"/>
            <a:headEnd type="none" len="sm" w="sm"/>
            <a:tailEnd type="arrow" len="sm" w="med"/>
          </a:ln>
        </p:spPr>
      </p:sp>
      <p:sp>
        <p:nvSpPr>
          <p:cNvPr name="TextBox 22" id="22"/>
          <p:cNvSpPr txBox="true"/>
          <p:nvPr/>
        </p:nvSpPr>
        <p:spPr>
          <a:xfrm rot="0">
            <a:off x="4795256" y="4035913"/>
            <a:ext cx="2700266" cy="763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Gửi sư kiện send-move</a:t>
            </a:r>
          </a:p>
        </p:txBody>
      </p:sp>
      <p:sp>
        <p:nvSpPr>
          <p:cNvPr name="TextBox 23" id="23"/>
          <p:cNvSpPr txBox="true"/>
          <p:nvPr/>
        </p:nvSpPr>
        <p:spPr>
          <a:xfrm rot="0">
            <a:off x="1686576" y="6487156"/>
            <a:ext cx="2700266"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Client A</a:t>
            </a:r>
          </a:p>
        </p:txBody>
      </p:sp>
      <p:sp>
        <p:nvSpPr>
          <p:cNvPr name="TextBox 24" id="24"/>
          <p:cNvSpPr txBox="true"/>
          <p:nvPr/>
        </p:nvSpPr>
        <p:spPr>
          <a:xfrm rot="0">
            <a:off x="12988580" y="6487156"/>
            <a:ext cx="1005721"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Client B</a:t>
            </a:r>
          </a:p>
        </p:txBody>
      </p:sp>
      <p:sp>
        <p:nvSpPr>
          <p:cNvPr name="Freeform 25" id="25"/>
          <p:cNvSpPr/>
          <p:nvPr/>
        </p:nvSpPr>
        <p:spPr>
          <a:xfrm>
            <a:off x="8265468" y="3629790"/>
            <a:ext cx="1381438" cy="968308"/>
          </a:xfrm>
          <a:custGeom>
            <a:avLst/>
            <a:gdLst/>
            <a:ahLst/>
            <a:cxnLst/>
            <a:rect r="r" b="b" t="t" l="l"/>
            <a:pathLst>
              <a:path h="968308" w="1381438">
                <a:moveTo>
                  <a:pt x="0" y="806808"/>
                </a:moveTo>
                <a:quadBezTo>
                  <a:pt x="1021742" y="-883877"/>
                  <a:pt x="1381438" y="968309"/>
                </a:quadBezTo>
              </a:path>
            </a:pathLst>
          </a:custGeom>
          <a:ln cap="flat" w="38100">
            <a:solidFill>
              <a:srgbClr val="000000"/>
            </a:solidFill>
            <a:prstDash val="solid"/>
            <a:headEnd type="arrow" len="sm" w="med"/>
            <a:tailEnd type="none" len="sm" w="sm"/>
          </a:ln>
        </p:spPr>
      </p:sp>
      <p:sp>
        <p:nvSpPr>
          <p:cNvPr name="TextBox 26" id="26"/>
          <p:cNvSpPr txBox="true"/>
          <p:nvPr/>
        </p:nvSpPr>
        <p:spPr>
          <a:xfrm rot="0">
            <a:off x="9552317" y="3477980"/>
            <a:ext cx="2831425"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Ghi đè cache lên RAM</a:t>
            </a:r>
          </a:p>
        </p:txBody>
      </p:sp>
      <p:sp>
        <p:nvSpPr>
          <p:cNvPr name="TextBox 27" id="27"/>
          <p:cNvSpPr txBox="true"/>
          <p:nvPr/>
        </p:nvSpPr>
        <p:spPr>
          <a:xfrm rot="0">
            <a:off x="9678704" y="5396516"/>
            <a:ext cx="2641256" cy="763270"/>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Gửi sư kiện receive-move</a:t>
            </a:r>
          </a:p>
        </p:txBody>
      </p:sp>
      <p:sp>
        <p:nvSpPr>
          <p:cNvPr name="Freeform 28" id="28"/>
          <p:cNvSpPr/>
          <p:nvPr/>
        </p:nvSpPr>
        <p:spPr>
          <a:xfrm>
            <a:off x="3029980" y="6859901"/>
            <a:ext cx="10461460" cy="753674"/>
          </a:xfrm>
          <a:custGeom>
            <a:avLst/>
            <a:gdLst/>
            <a:ahLst/>
            <a:cxnLst/>
            <a:rect r="r" b="b" t="t" l="l"/>
            <a:pathLst>
              <a:path h="753674" w="10461460">
                <a:moveTo>
                  <a:pt x="6728" y="0"/>
                </a:moveTo>
                <a:lnTo>
                  <a:pt x="3364" y="0"/>
                </a:lnTo>
                <a:cubicBezTo>
                  <a:pt x="2472" y="0"/>
                  <a:pt x="1617" y="355"/>
                  <a:pt x="986" y="986"/>
                </a:cubicBezTo>
                <a:cubicBezTo>
                  <a:pt x="355" y="1617"/>
                  <a:pt x="0" y="2472"/>
                  <a:pt x="0" y="3365"/>
                </a:cubicBezTo>
                <a:lnTo>
                  <a:pt x="0" y="525075"/>
                </a:lnTo>
                <a:cubicBezTo>
                  <a:pt x="0" y="585703"/>
                  <a:pt x="24085" y="643849"/>
                  <a:pt x="66956" y="686719"/>
                </a:cubicBezTo>
                <a:cubicBezTo>
                  <a:pt x="109827" y="729590"/>
                  <a:pt x="167972" y="753675"/>
                  <a:pt x="228601" y="753675"/>
                </a:cubicBezTo>
                <a:lnTo>
                  <a:pt x="10232860" y="753675"/>
                </a:lnTo>
                <a:cubicBezTo>
                  <a:pt x="10359113" y="753675"/>
                  <a:pt x="10461460" y="651327"/>
                  <a:pt x="10461460" y="525075"/>
                </a:cubicBezTo>
                <a:lnTo>
                  <a:pt x="10461460" y="0"/>
                </a:lnTo>
              </a:path>
            </a:pathLst>
          </a:custGeom>
          <a:ln cap="flat" w="38100">
            <a:solidFill>
              <a:srgbClr val="000000"/>
            </a:solidFill>
            <a:prstDash val="solid"/>
            <a:headEnd type="none" len="sm" w="sm"/>
            <a:tailEnd type="none" len="sm" w="sm"/>
          </a:ln>
        </p:spPr>
      </p:sp>
      <p:sp>
        <p:nvSpPr>
          <p:cNvPr name="TextBox 29" id="29"/>
          <p:cNvSpPr txBox="true"/>
          <p:nvPr/>
        </p:nvSpPr>
        <p:spPr>
          <a:xfrm rot="0">
            <a:off x="7361523" y="7813600"/>
            <a:ext cx="2169557" cy="372745"/>
          </a:xfrm>
          <a:prstGeom prst="rect">
            <a:avLst/>
          </a:prstGeom>
        </p:spPr>
        <p:txBody>
          <a:bodyPr anchor="t" rtlCol="false" tIns="0" lIns="0" bIns="0" rIns="0">
            <a:spAutoFit/>
          </a:bodyPr>
          <a:lstStyle/>
          <a:p>
            <a:pPr algn="ctr">
              <a:lnSpc>
                <a:spcPts val="3079"/>
              </a:lnSpc>
              <a:spcBef>
                <a:spcPct val="0"/>
              </a:spcBef>
            </a:pPr>
            <a:r>
              <a:rPr lang="en-US" sz="2199">
                <a:solidFill>
                  <a:srgbClr val="000000"/>
                </a:solidFill>
                <a:latin typeface="Noto Sans"/>
                <a:ea typeface="Noto Sans"/>
                <a:cs typeface="Noto Sans"/>
                <a:sym typeface="Noto Sans"/>
              </a:rPr>
              <a:t>UI vẽ lại quân cờ</a:t>
            </a:r>
          </a:p>
        </p:txBody>
      </p:sp>
    </p:spTree>
  </p:cSld>
  <p:clrMapOvr>
    <a:masterClrMapping/>
  </p:clrMapOvr>
  <p:transition spd="slow">
    <p:push dir="l"/>
  </p:transition>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0" y="1429521"/>
            <a:ext cx="7361523"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Phân tích hệ thống</a:t>
            </a:r>
          </a:p>
        </p:txBody>
      </p:sp>
      <p:sp>
        <p:nvSpPr>
          <p:cNvPr name="TextBox 16" id="16"/>
          <p:cNvSpPr txBox="true"/>
          <p:nvPr/>
        </p:nvSpPr>
        <p:spPr>
          <a:xfrm rot="0">
            <a:off x="912854" y="2629678"/>
            <a:ext cx="9547860"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Phân tích luồng (Xử lý ngắt kết nối)</a:t>
            </a:r>
          </a:p>
        </p:txBody>
      </p:sp>
      <p:grpSp>
        <p:nvGrpSpPr>
          <p:cNvPr name="Group 17" id="17"/>
          <p:cNvGrpSpPr/>
          <p:nvPr/>
        </p:nvGrpSpPr>
        <p:grpSpPr>
          <a:xfrm rot="0">
            <a:off x="6307535" y="3442443"/>
            <a:ext cx="5308668" cy="1432714"/>
            <a:chOff x="0" y="0"/>
            <a:chExt cx="1398168" cy="377340"/>
          </a:xfrm>
        </p:grpSpPr>
        <p:sp>
          <p:nvSpPr>
            <p:cNvPr name="Freeform 18" id="18"/>
            <p:cNvSpPr/>
            <p:nvPr/>
          </p:nvSpPr>
          <p:spPr>
            <a:xfrm flipH="false" flipV="false" rot="0">
              <a:off x="0" y="0"/>
              <a:ext cx="1398168" cy="377340"/>
            </a:xfrm>
            <a:custGeom>
              <a:avLst/>
              <a:gdLst/>
              <a:ahLst/>
              <a:cxnLst/>
              <a:rect r="r" b="b" t="t" l="l"/>
              <a:pathLst>
                <a:path h="377340" w="1398168">
                  <a:moveTo>
                    <a:pt x="0" y="0"/>
                  </a:moveTo>
                  <a:lnTo>
                    <a:pt x="1398168" y="0"/>
                  </a:lnTo>
                  <a:lnTo>
                    <a:pt x="1398168" y="377340"/>
                  </a:lnTo>
                  <a:lnTo>
                    <a:pt x="0" y="377340"/>
                  </a:lnTo>
                  <a:close/>
                </a:path>
              </a:pathLst>
            </a:custGeom>
            <a:solidFill>
              <a:srgbClr val="8AB7E2"/>
            </a:solidFill>
          </p:spPr>
        </p:sp>
        <p:sp>
          <p:nvSpPr>
            <p:cNvPr name="TextBox 19" id="19"/>
            <p:cNvSpPr txBox="true"/>
            <p:nvPr/>
          </p:nvSpPr>
          <p:spPr>
            <a:xfrm>
              <a:off x="0" y="-38100"/>
              <a:ext cx="1398168"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Người chơi thoát trận giữa chừng. Tự động đếm ngược 60s</a:t>
              </a:r>
            </a:p>
          </p:txBody>
        </p:sp>
      </p:grpSp>
      <p:grpSp>
        <p:nvGrpSpPr>
          <p:cNvPr name="Group 20" id="20"/>
          <p:cNvGrpSpPr/>
          <p:nvPr/>
        </p:nvGrpSpPr>
        <p:grpSpPr>
          <a:xfrm rot="0">
            <a:off x="2760944" y="5195078"/>
            <a:ext cx="3086100" cy="1432714"/>
            <a:chOff x="0" y="0"/>
            <a:chExt cx="812800" cy="377340"/>
          </a:xfrm>
        </p:grpSpPr>
        <p:sp>
          <p:nvSpPr>
            <p:cNvPr name="Freeform 21" id="21"/>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2" id="22"/>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Khôi phục &lt; 60s</a:t>
              </a:r>
            </a:p>
          </p:txBody>
        </p:sp>
      </p:grpSp>
      <p:grpSp>
        <p:nvGrpSpPr>
          <p:cNvPr name="Group 23" id="23"/>
          <p:cNvGrpSpPr/>
          <p:nvPr/>
        </p:nvGrpSpPr>
        <p:grpSpPr>
          <a:xfrm rot="0">
            <a:off x="12014013" y="5195078"/>
            <a:ext cx="3086100" cy="1432714"/>
            <a:chOff x="0" y="0"/>
            <a:chExt cx="812800" cy="377340"/>
          </a:xfrm>
        </p:grpSpPr>
        <p:sp>
          <p:nvSpPr>
            <p:cNvPr name="Freeform 24" id="24"/>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5" id="25"/>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Hết hạn &gt; 60s</a:t>
              </a:r>
            </a:p>
          </p:txBody>
        </p:sp>
      </p:grpSp>
      <p:grpSp>
        <p:nvGrpSpPr>
          <p:cNvPr name="Group 26" id="26"/>
          <p:cNvGrpSpPr/>
          <p:nvPr/>
        </p:nvGrpSpPr>
        <p:grpSpPr>
          <a:xfrm rot="0">
            <a:off x="2760944" y="7434109"/>
            <a:ext cx="3086100" cy="1432714"/>
            <a:chOff x="0" y="0"/>
            <a:chExt cx="812800" cy="377340"/>
          </a:xfrm>
        </p:grpSpPr>
        <p:sp>
          <p:nvSpPr>
            <p:cNvPr name="Freeform 27" id="27"/>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28" id="28"/>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Đồng bộ bàn cờ từ RAM. Trận đấu tiếp diễn</a:t>
              </a:r>
            </a:p>
          </p:txBody>
        </p:sp>
      </p:grpSp>
      <p:grpSp>
        <p:nvGrpSpPr>
          <p:cNvPr name="Group 29" id="29"/>
          <p:cNvGrpSpPr/>
          <p:nvPr/>
        </p:nvGrpSpPr>
        <p:grpSpPr>
          <a:xfrm rot="0">
            <a:off x="12014013" y="7434109"/>
            <a:ext cx="3086100" cy="1432714"/>
            <a:chOff x="0" y="0"/>
            <a:chExt cx="812800" cy="377340"/>
          </a:xfrm>
        </p:grpSpPr>
        <p:sp>
          <p:nvSpPr>
            <p:cNvPr name="Freeform 30" id="30"/>
            <p:cNvSpPr/>
            <p:nvPr/>
          </p:nvSpPr>
          <p:spPr>
            <a:xfrm flipH="false" flipV="false" rot="0">
              <a:off x="0" y="0"/>
              <a:ext cx="812800" cy="377340"/>
            </a:xfrm>
            <a:custGeom>
              <a:avLst/>
              <a:gdLst/>
              <a:ahLst/>
              <a:cxnLst/>
              <a:rect r="r" b="b" t="t" l="l"/>
              <a:pathLst>
                <a:path h="377340" w="812800">
                  <a:moveTo>
                    <a:pt x="0" y="0"/>
                  </a:moveTo>
                  <a:lnTo>
                    <a:pt x="812800" y="0"/>
                  </a:lnTo>
                  <a:lnTo>
                    <a:pt x="812800" y="377340"/>
                  </a:lnTo>
                  <a:lnTo>
                    <a:pt x="0" y="377340"/>
                  </a:lnTo>
                  <a:close/>
                </a:path>
              </a:pathLst>
            </a:custGeom>
            <a:solidFill>
              <a:srgbClr val="8AB7E2"/>
            </a:solidFill>
          </p:spPr>
        </p:sp>
        <p:sp>
          <p:nvSpPr>
            <p:cNvPr name="TextBox 31" id="31"/>
            <p:cNvSpPr txBox="true"/>
            <p:nvPr/>
          </p:nvSpPr>
          <p:spPr>
            <a:xfrm>
              <a:off x="0" y="-38100"/>
              <a:ext cx="812800" cy="415440"/>
            </a:xfrm>
            <a:prstGeom prst="rect">
              <a:avLst/>
            </a:prstGeom>
          </p:spPr>
          <p:txBody>
            <a:bodyPr anchor="ctr" rtlCol="false" tIns="50800" lIns="50800" bIns="50800" rIns="50800"/>
            <a:lstStyle/>
            <a:p>
              <a:pPr algn="ctr">
                <a:lnSpc>
                  <a:spcPts val="3079"/>
                </a:lnSpc>
              </a:pPr>
              <a:r>
                <a:rPr lang="en-US" sz="2199">
                  <a:solidFill>
                    <a:srgbClr val="000000"/>
                  </a:solidFill>
                  <a:latin typeface="Noto Sans"/>
                  <a:ea typeface="Noto Sans"/>
                  <a:cs typeface="Noto Sans"/>
                  <a:sym typeface="Noto Sans"/>
                </a:rPr>
                <a:t>Xử thua</a:t>
              </a:r>
            </a:p>
          </p:txBody>
        </p:sp>
      </p:grpSp>
      <p:sp>
        <p:nvSpPr>
          <p:cNvPr name="Freeform 32" id="32"/>
          <p:cNvSpPr/>
          <p:nvPr/>
        </p:nvSpPr>
        <p:spPr>
          <a:xfrm>
            <a:off x="5847044" y="4875157"/>
            <a:ext cx="3114825" cy="1036278"/>
          </a:xfrm>
          <a:custGeom>
            <a:avLst/>
            <a:gdLst/>
            <a:ahLst/>
            <a:cxnLst/>
            <a:rect r="r" b="b" t="t" l="l"/>
            <a:pathLst>
              <a:path h="1036278" w="3114825">
                <a:moveTo>
                  <a:pt x="3114825" y="0"/>
                </a:moveTo>
                <a:lnTo>
                  <a:pt x="3114825" y="807678"/>
                </a:lnTo>
                <a:cubicBezTo>
                  <a:pt x="3114825" y="933930"/>
                  <a:pt x="3012477" y="1036278"/>
                  <a:pt x="2886225" y="1036278"/>
                </a:cubicBezTo>
                <a:lnTo>
                  <a:pt x="0" y="1036278"/>
                </a:lnTo>
              </a:path>
            </a:pathLst>
          </a:custGeom>
          <a:ln cap="flat" w="38100">
            <a:solidFill>
              <a:srgbClr val="000000"/>
            </a:solidFill>
            <a:prstDash val="solid"/>
            <a:headEnd type="none" len="sm" w="sm"/>
            <a:tailEnd type="none" len="sm" w="sm"/>
          </a:ln>
        </p:spPr>
      </p:sp>
      <p:sp>
        <p:nvSpPr>
          <p:cNvPr name="Freeform 33" id="33"/>
          <p:cNvSpPr/>
          <p:nvPr/>
        </p:nvSpPr>
        <p:spPr>
          <a:xfrm>
            <a:off x="8961869" y="4875157"/>
            <a:ext cx="3052143" cy="1036278"/>
          </a:xfrm>
          <a:custGeom>
            <a:avLst/>
            <a:gdLst/>
            <a:ahLst/>
            <a:cxnLst/>
            <a:rect r="r" b="b" t="t" l="l"/>
            <a:pathLst>
              <a:path h="1036278" w="3052143">
                <a:moveTo>
                  <a:pt x="0" y="0"/>
                </a:moveTo>
                <a:lnTo>
                  <a:pt x="0" y="807678"/>
                </a:lnTo>
                <a:cubicBezTo>
                  <a:pt x="0" y="933930"/>
                  <a:pt x="102348" y="1036278"/>
                  <a:pt x="228600" y="1036278"/>
                </a:cubicBezTo>
                <a:lnTo>
                  <a:pt x="3052143" y="1036278"/>
                </a:lnTo>
              </a:path>
            </a:pathLst>
          </a:custGeom>
          <a:ln cap="flat" w="38100">
            <a:solidFill>
              <a:srgbClr val="000000"/>
            </a:solidFill>
            <a:prstDash val="solid"/>
            <a:headEnd type="none" len="sm" w="sm"/>
            <a:tailEnd type="none" len="sm" w="sm"/>
          </a:ln>
        </p:spPr>
      </p:sp>
      <p:sp>
        <p:nvSpPr>
          <p:cNvPr name="AutoShape 34" id="34"/>
          <p:cNvSpPr/>
          <p:nvPr/>
        </p:nvSpPr>
        <p:spPr>
          <a:xfrm flipV="true">
            <a:off x="4303994" y="6627792"/>
            <a:ext cx="0" cy="806317"/>
          </a:xfrm>
          <a:prstGeom prst="line">
            <a:avLst/>
          </a:prstGeom>
          <a:ln cap="flat" w="38100">
            <a:solidFill>
              <a:srgbClr val="000000"/>
            </a:solidFill>
            <a:prstDash val="solid"/>
            <a:headEnd type="none" len="sm" w="sm"/>
            <a:tailEnd type="none" len="sm" w="sm"/>
          </a:ln>
        </p:spPr>
      </p:sp>
      <p:sp>
        <p:nvSpPr>
          <p:cNvPr name="AutoShape 35" id="35"/>
          <p:cNvSpPr/>
          <p:nvPr/>
        </p:nvSpPr>
        <p:spPr>
          <a:xfrm flipV="true">
            <a:off x="13557063" y="6627792"/>
            <a:ext cx="0" cy="806317"/>
          </a:xfrm>
          <a:prstGeom prst="line">
            <a:avLst/>
          </a:prstGeom>
          <a:ln cap="flat" w="38100">
            <a:solidFill>
              <a:srgbClr val="000000"/>
            </a:solidFill>
            <a:prstDash val="solid"/>
            <a:headEnd type="none" len="sm" w="sm"/>
            <a:tailEnd type="none" len="sm" w="sm"/>
          </a:ln>
        </p:spPr>
      </p:sp>
    </p:spTree>
  </p:cSld>
  <p:clrMapOvr>
    <a:masterClrMapping/>
  </p:clrMapOvr>
  <p:transition spd="slow">
    <p:push dir="l"/>
  </p:transition>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912854" y="1429521"/>
            <a:ext cx="4236066"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Kết luận</a:t>
            </a:r>
          </a:p>
        </p:txBody>
      </p:sp>
      <p:sp>
        <p:nvSpPr>
          <p:cNvPr name="TextBox 16" id="16"/>
          <p:cNvSpPr txBox="true"/>
          <p:nvPr/>
        </p:nvSpPr>
        <p:spPr>
          <a:xfrm rot="0">
            <a:off x="912854" y="2629678"/>
            <a:ext cx="4961692"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1. Kết quả đạt được</a:t>
            </a:r>
          </a:p>
        </p:txBody>
      </p:sp>
      <p:sp>
        <p:nvSpPr>
          <p:cNvPr name="TextBox 17" id="17"/>
          <p:cNvSpPr txBox="true"/>
          <p:nvPr/>
        </p:nvSpPr>
        <p:spPr>
          <a:xfrm rot="0">
            <a:off x="912854" y="3623453"/>
            <a:ext cx="16181103" cy="4692017"/>
          </a:xfrm>
          <a:prstGeom prst="rect">
            <a:avLst/>
          </a:prstGeom>
        </p:spPr>
        <p:txBody>
          <a:bodyPr anchor="t" rtlCol="false" tIns="0" lIns="0" bIns="0" rIns="0">
            <a:spAutoFit/>
          </a:bodyPr>
          <a:lstStyle/>
          <a:p>
            <a:pPr algn="l">
              <a:lnSpc>
                <a:spcPts val="5399"/>
              </a:lnSpc>
            </a:pPr>
            <a:r>
              <a:rPr lang="en-US" sz="3599">
                <a:solidFill>
                  <a:srgbClr val="000000"/>
                </a:solidFill>
                <a:latin typeface="Noto Sans"/>
                <a:ea typeface="Noto Sans"/>
                <a:cs typeface="Noto Sans"/>
                <a:sym typeface="Noto Sans"/>
              </a:rPr>
              <a:t>- Về mặt giao diện và tương tác: Xây dựng thành công giao diện thi đấu trực quan, thân thiện. </a:t>
            </a:r>
          </a:p>
          <a:p>
            <a:pPr algn="l">
              <a:lnSpc>
                <a:spcPts val="5399"/>
              </a:lnSpc>
            </a:pPr>
          </a:p>
          <a:p>
            <a:pPr algn="l">
              <a:lnSpc>
                <a:spcPts val="5399"/>
              </a:lnSpc>
            </a:pPr>
            <a:r>
              <a:rPr lang="en-US" sz="3599">
                <a:solidFill>
                  <a:srgbClr val="000000"/>
                </a:solidFill>
                <a:latin typeface="Noto Sans"/>
                <a:ea typeface="Noto Sans"/>
                <a:cs typeface="Noto Sans"/>
                <a:sym typeface="Noto Sans"/>
              </a:rPr>
              <a:t>- Về mặt xử lý thời gian thực: Các luồng nghiệp vụ phức tạp như ghép trận ngẫu nhiên, gửi lời mời thách đấu và đếm ngược thời gian khi mất kết nối mạng đều được xử lý chính xác với độ trễ tối thiểu.</a:t>
            </a:r>
          </a:p>
          <a:p>
            <a:pPr algn="l">
              <a:lnSpc>
                <a:spcPts val="5399"/>
              </a:lnSpc>
            </a:pPr>
          </a:p>
        </p:txBody>
      </p:sp>
    </p:spTree>
  </p:cSld>
  <p:clrMapOvr>
    <a:masterClrMapping/>
  </p:clrMapOvr>
  <p:transition spd="slow">
    <p:push dir="l"/>
  </p:transition>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1F1F1"/>
        </a:solidFill>
      </p:bgPr>
    </p:bg>
    <p:spTree>
      <p:nvGrpSpPr>
        <p:cNvPr id="1" name=""/>
        <p:cNvGrpSpPr/>
        <p:nvPr/>
      </p:nvGrpSpPr>
      <p:grpSpPr>
        <a:xfrm>
          <a:off x="0" y="0"/>
          <a:ext cx="0" cy="0"/>
          <a:chOff x="0" y="0"/>
          <a:chExt cx="0" cy="0"/>
        </a:xfrm>
      </p:grpSpPr>
      <p:sp>
        <p:nvSpPr>
          <p:cNvPr name="Freeform 2" id="2"/>
          <p:cNvSpPr/>
          <p:nvPr/>
        </p:nvSpPr>
        <p:spPr>
          <a:xfrm flipH="false" flipV="false" rot="0">
            <a:off x="-2329398" y="9017983"/>
            <a:ext cx="4899948" cy="3344214"/>
          </a:xfrm>
          <a:custGeom>
            <a:avLst/>
            <a:gdLst/>
            <a:ahLst/>
            <a:cxnLst/>
            <a:rect r="r" b="b" t="t" l="l"/>
            <a:pathLst>
              <a:path h="3344214" w="4899948">
                <a:moveTo>
                  <a:pt x="0" y="0"/>
                </a:moveTo>
                <a:lnTo>
                  <a:pt x="4899947" y="0"/>
                </a:lnTo>
                <a:lnTo>
                  <a:pt x="4899947" y="3344214"/>
                </a:lnTo>
                <a:lnTo>
                  <a:pt x="0" y="33442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5847044" y="9882374"/>
            <a:ext cx="3296956" cy="809253"/>
          </a:xfrm>
          <a:custGeom>
            <a:avLst/>
            <a:gdLst/>
            <a:ahLst/>
            <a:cxnLst/>
            <a:rect r="r" b="b" t="t" l="l"/>
            <a:pathLst>
              <a:path h="809253" w="3296956">
                <a:moveTo>
                  <a:pt x="0" y="0"/>
                </a:moveTo>
                <a:lnTo>
                  <a:pt x="3296956" y="0"/>
                </a:lnTo>
                <a:lnTo>
                  <a:pt x="3296956" y="809252"/>
                </a:lnTo>
                <a:lnTo>
                  <a:pt x="0" y="80925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4494772" y="9017983"/>
            <a:ext cx="4427843" cy="3481392"/>
          </a:xfrm>
          <a:custGeom>
            <a:avLst/>
            <a:gdLst/>
            <a:ahLst/>
            <a:cxnLst/>
            <a:rect r="r" b="b" t="t" l="l"/>
            <a:pathLst>
              <a:path h="3481392" w="4427843">
                <a:moveTo>
                  <a:pt x="0" y="0"/>
                </a:moveTo>
                <a:lnTo>
                  <a:pt x="4427843" y="0"/>
                </a:lnTo>
                <a:lnTo>
                  <a:pt x="4427843" y="3481391"/>
                </a:lnTo>
                <a:lnTo>
                  <a:pt x="0" y="348139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a:ln cap="sq">
            <a:noFill/>
            <a:prstDash val="solid"/>
            <a:miter/>
          </a:ln>
        </p:spPr>
      </p:sp>
      <p:sp>
        <p:nvSpPr>
          <p:cNvPr name="Freeform 5" id="5"/>
          <p:cNvSpPr/>
          <p:nvPr/>
        </p:nvSpPr>
        <p:spPr>
          <a:xfrm flipH="false" flipV="false" rot="0">
            <a:off x="-763398" y="-1534296"/>
            <a:ext cx="4899948" cy="3068592"/>
          </a:xfrm>
          <a:custGeom>
            <a:avLst/>
            <a:gdLst/>
            <a:ahLst/>
            <a:cxnLst/>
            <a:rect r="r" b="b" t="t" l="l"/>
            <a:pathLst>
              <a:path h="3068592" w="4899948">
                <a:moveTo>
                  <a:pt x="0" y="0"/>
                </a:moveTo>
                <a:lnTo>
                  <a:pt x="4899947" y="0"/>
                </a:lnTo>
                <a:lnTo>
                  <a:pt x="4899947" y="3068592"/>
                </a:lnTo>
                <a:lnTo>
                  <a:pt x="0" y="306859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a:ln cap="sq">
            <a:noFill/>
            <a:prstDash val="solid"/>
            <a:miter/>
          </a:ln>
        </p:spPr>
      </p:sp>
      <p:sp>
        <p:nvSpPr>
          <p:cNvPr name="Freeform 6" id="6"/>
          <p:cNvSpPr/>
          <p:nvPr/>
        </p:nvSpPr>
        <p:spPr>
          <a:xfrm flipH="false" flipV="false" rot="0">
            <a:off x="12801533" y="-3053980"/>
            <a:ext cx="4292424" cy="3870986"/>
          </a:xfrm>
          <a:custGeom>
            <a:avLst/>
            <a:gdLst/>
            <a:ahLst/>
            <a:cxnLst/>
            <a:rect r="r" b="b" t="t" l="l"/>
            <a:pathLst>
              <a:path h="3870986" w="4292424">
                <a:moveTo>
                  <a:pt x="0" y="0"/>
                </a:moveTo>
                <a:lnTo>
                  <a:pt x="4292424" y="0"/>
                </a:lnTo>
                <a:lnTo>
                  <a:pt x="4292424" y="3870986"/>
                </a:lnTo>
                <a:lnTo>
                  <a:pt x="0" y="387098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a:ln cap="sq">
            <a:noFill/>
            <a:prstDash val="solid"/>
            <a:miter/>
          </a:ln>
        </p:spPr>
      </p:sp>
      <p:sp>
        <p:nvSpPr>
          <p:cNvPr name="Freeform 7" id="7"/>
          <p:cNvSpPr/>
          <p:nvPr/>
        </p:nvSpPr>
        <p:spPr>
          <a:xfrm flipH="false" flipV="false" rot="0">
            <a:off x="10138935" y="9258300"/>
            <a:ext cx="4076270" cy="2863579"/>
          </a:xfrm>
          <a:custGeom>
            <a:avLst/>
            <a:gdLst/>
            <a:ahLst/>
            <a:cxnLst/>
            <a:rect r="r" b="b" t="t" l="l"/>
            <a:pathLst>
              <a:path h="2863579" w="4076270">
                <a:moveTo>
                  <a:pt x="0" y="0"/>
                </a:moveTo>
                <a:lnTo>
                  <a:pt x="4076270" y="0"/>
                </a:lnTo>
                <a:lnTo>
                  <a:pt x="4076270" y="2863579"/>
                </a:lnTo>
                <a:lnTo>
                  <a:pt x="0" y="2863579"/>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a:ln cap="sq">
            <a:noFill/>
            <a:prstDash val="solid"/>
            <a:miter/>
          </a:ln>
        </p:spPr>
      </p:sp>
      <p:sp>
        <p:nvSpPr>
          <p:cNvPr name="Freeform 8" id="8"/>
          <p:cNvSpPr/>
          <p:nvPr/>
        </p:nvSpPr>
        <p:spPr>
          <a:xfrm flipH="false" flipV="false" rot="0">
            <a:off x="7495522" y="-3297794"/>
            <a:ext cx="5493058" cy="4114800"/>
          </a:xfrm>
          <a:custGeom>
            <a:avLst/>
            <a:gdLst/>
            <a:ahLst/>
            <a:cxnLst/>
            <a:rect r="r" b="b" t="t" l="l"/>
            <a:pathLst>
              <a:path h="4114800" w="5493058">
                <a:moveTo>
                  <a:pt x="0" y="0"/>
                </a:moveTo>
                <a:lnTo>
                  <a:pt x="5493058" y="0"/>
                </a:lnTo>
                <a:lnTo>
                  <a:pt x="5493058" y="4114800"/>
                </a:lnTo>
                <a:lnTo>
                  <a:pt x="0" y="411480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a:ln cap="sq">
            <a:noFill/>
            <a:prstDash val="solid"/>
            <a:miter/>
          </a:ln>
        </p:spPr>
      </p:sp>
      <p:sp>
        <p:nvSpPr>
          <p:cNvPr name="Freeform 9" id="9"/>
          <p:cNvSpPr/>
          <p:nvPr/>
        </p:nvSpPr>
        <p:spPr>
          <a:xfrm flipH="false" flipV="false" rot="4747568">
            <a:off x="-2972342" y="3665317"/>
            <a:ext cx="4896097" cy="2735694"/>
          </a:xfrm>
          <a:custGeom>
            <a:avLst/>
            <a:gdLst/>
            <a:ahLst/>
            <a:cxnLst/>
            <a:rect r="r" b="b" t="t" l="l"/>
            <a:pathLst>
              <a:path h="2735694" w="4896097">
                <a:moveTo>
                  <a:pt x="0" y="0"/>
                </a:moveTo>
                <a:lnTo>
                  <a:pt x="4896097" y="0"/>
                </a:lnTo>
                <a:lnTo>
                  <a:pt x="4896097" y="2735694"/>
                </a:lnTo>
                <a:lnTo>
                  <a:pt x="0" y="273569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a:ln cap="sq">
            <a:noFill/>
            <a:prstDash val="solid"/>
            <a:miter/>
          </a:ln>
        </p:spPr>
      </p:sp>
      <p:sp>
        <p:nvSpPr>
          <p:cNvPr name="Freeform 10" id="10"/>
          <p:cNvSpPr/>
          <p:nvPr/>
        </p:nvSpPr>
        <p:spPr>
          <a:xfrm flipH="false" flipV="false" rot="0">
            <a:off x="4861154" y="-2102294"/>
            <a:ext cx="2892762" cy="2919301"/>
          </a:xfrm>
          <a:custGeom>
            <a:avLst/>
            <a:gdLst/>
            <a:ahLst/>
            <a:cxnLst/>
            <a:rect r="r" b="b" t="t" l="l"/>
            <a:pathLst>
              <a:path h="2919301" w="2892762">
                <a:moveTo>
                  <a:pt x="0" y="0"/>
                </a:moveTo>
                <a:lnTo>
                  <a:pt x="2892761" y="0"/>
                </a:lnTo>
                <a:lnTo>
                  <a:pt x="2892761" y="2919300"/>
                </a:lnTo>
                <a:lnTo>
                  <a:pt x="0" y="2919300"/>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a:ln cap="sq">
            <a:noFill/>
            <a:prstDash val="solid"/>
            <a:miter/>
          </a:ln>
        </p:spPr>
      </p:sp>
      <p:sp>
        <p:nvSpPr>
          <p:cNvPr name="Freeform 11" id="11"/>
          <p:cNvSpPr/>
          <p:nvPr/>
        </p:nvSpPr>
        <p:spPr>
          <a:xfrm flipH="false" flipV="false" rot="0">
            <a:off x="17494810" y="2371030"/>
            <a:ext cx="3575541" cy="3575541"/>
          </a:xfrm>
          <a:custGeom>
            <a:avLst/>
            <a:gdLst/>
            <a:ahLst/>
            <a:cxnLst/>
            <a:rect r="r" b="b" t="t" l="l"/>
            <a:pathLst>
              <a:path h="3575541" w="3575541">
                <a:moveTo>
                  <a:pt x="0" y="0"/>
                </a:moveTo>
                <a:lnTo>
                  <a:pt x="3575541" y="0"/>
                </a:lnTo>
                <a:lnTo>
                  <a:pt x="3575541" y="3575541"/>
                </a:lnTo>
                <a:lnTo>
                  <a:pt x="0" y="3575541"/>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a:ln cap="sq">
            <a:noFill/>
            <a:prstDash val="solid"/>
            <a:miter/>
          </a:ln>
        </p:spPr>
      </p:sp>
      <p:sp>
        <p:nvSpPr>
          <p:cNvPr name="Freeform 12" id="12"/>
          <p:cNvSpPr/>
          <p:nvPr/>
        </p:nvSpPr>
        <p:spPr>
          <a:xfrm flipH="false" flipV="false" rot="0">
            <a:off x="2570549" y="9496827"/>
            <a:ext cx="2587020" cy="2386526"/>
          </a:xfrm>
          <a:custGeom>
            <a:avLst/>
            <a:gdLst/>
            <a:ahLst/>
            <a:cxnLst/>
            <a:rect r="r" b="b" t="t" l="l"/>
            <a:pathLst>
              <a:path h="2386526" w="2587020">
                <a:moveTo>
                  <a:pt x="0" y="0"/>
                </a:moveTo>
                <a:lnTo>
                  <a:pt x="2587020" y="0"/>
                </a:lnTo>
                <a:lnTo>
                  <a:pt x="2587020" y="2386526"/>
                </a:lnTo>
                <a:lnTo>
                  <a:pt x="0" y="2386526"/>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a:ln cap="sq">
            <a:noFill/>
            <a:prstDash val="solid"/>
            <a:miter/>
          </a:ln>
        </p:spPr>
      </p:sp>
      <p:sp>
        <p:nvSpPr>
          <p:cNvPr name="Freeform 13" id="13"/>
          <p:cNvSpPr/>
          <p:nvPr/>
        </p:nvSpPr>
        <p:spPr>
          <a:xfrm flipH="false" flipV="false" rot="-5282649">
            <a:off x="16596506" y="6970869"/>
            <a:ext cx="3382987" cy="1154444"/>
          </a:xfrm>
          <a:custGeom>
            <a:avLst/>
            <a:gdLst/>
            <a:ahLst/>
            <a:cxnLst/>
            <a:rect r="r" b="b" t="t" l="l"/>
            <a:pathLst>
              <a:path h="1154444" w="3382987">
                <a:moveTo>
                  <a:pt x="0" y="0"/>
                </a:moveTo>
                <a:lnTo>
                  <a:pt x="3382988" y="0"/>
                </a:lnTo>
                <a:lnTo>
                  <a:pt x="3382988" y="1154445"/>
                </a:lnTo>
                <a:lnTo>
                  <a:pt x="0" y="1154445"/>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a:ln cap="sq">
            <a:noFill/>
            <a:prstDash val="solid"/>
            <a:miter/>
          </a:ln>
        </p:spPr>
      </p:sp>
      <p:sp>
        <p:nvSpPr>
          <p:cNvPr name="Freeform 14" id="14"/>
          <p:cNvSpPr/>
          <p:nvPr/>
        </p:nvSpPr>
        <p:spPr>
          <a:xfrm flipH="false" flipV="false" rot="0">
            <a:off x="17259300" y="-971659"/>
            <a:ext cx="3104522" cy="3342688"/>
          </a:xfrm>
          <a:custGeom>
            <a:avLst/>
            <a:gdLst/>
            <a:ahLst/>
            <a:cxnLst/>
            <a:rect r="r" b="b" t="t" l="l"/>
            <a:pathLst>
              <a:path h="3342688" w="3104522">
                <a:moveTo>
                  <a:pt x="0" y="0"/>
                </a:moveTo>
                <a:lnTo>
                  <a:pt x="3104522" y="0"/>
                </a:lnTo>
                <a:lnTo>
                  <a:pt x="3104522" y="3342689"/>
                </a:lnTo>
                <a:lnTo>
                  <a:pt x="0" y="3342689"/>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a:ln cap="sq">
            <a:noFill/>
            <a:prstDash val="solid"/>
            <a:miter/>
          </a:ln>
        </p:spPr>
      </p:sp>
      <p:sp>
        <p:nvSpPr>
          <p:cNvPr name="TextBox 15" id="15"/>
          <p:cNvSpPr txBox="true"/>
          <p:nvPr/>
        </p:nvSpPr>
        <p:spPr>
          <a:xfrm rot="0">
            <a:off x="912854" y="1429521"/>
            <a:ext cx="4236066" cy="863600"/>
          </a:xfrm>
          <a:prstGeom prst="rect">
            <a:avLst/>
          </a:prstGeom>
        </p:spPr>
        <p:txBody>
          <a:bodyPr anchor="t" rtlCol="false" tIns="0" lIns="0" bIns="0" rIns="0">
            <a:spAutoFit/>
          </a:bodyPr>
          <a:lstStyle/>
          <a:p>
            <a:pPr algn="ctr">
              <a:lnSpc>
                <a:spcPts val="7000"/>
              </a:lnSpc>
              <a:spcBef>
                <a:spcPct val="0"/>
              </a:spcBef>
            </a:pPr>
            <a:r>
              <a:rPr lang="en-US" b="true" sz="5000">
                <a:solidFill>
                  <a:srgbClr val="000000"/>
                </a:solidFill>
                <a:latin typeface="Noto Sans Bold"/>
                <a:ea typeface="Noto Sans Bold"/>
                <a:cs typeface="Noto Sans Bold"/>
                <a:sym typeface="Noto Sans Bold"/>
              </a:rPr>
              <a:t>III. Kết luận</a:t>
            </a:r>
          </a:p>
        </p:txBody>
      </p:sp>
      <p:sp>
        <p:nvSpPr>
          <p:cNvPr name="TextBox 16" id="16"/>
          <p:cNvSpPr txBox="true"/>
          <p:nvPr/>
        </p:nvSpPr>
        <p:spPr>
          <a:xfrm rot="0">
            <a:off x="912854" y="2629678"/>
            <a:ext cx="2623661" cy="679450"/>
          </a:xfrm>
          <a:prstGeom prst="rect">
            <a:avLst/>
          </a:prstGeom>
        </p:spPr>
        <p:txBody>
          <a:bodyPr anchor="t" rtlCol="false" tIns="0" lIns="0" bIns="0" rIns="0">
            <a:spAutoFit/>
          </a:bodyPr>
          <a:lstStyle/>
          <a:p>
            <a:pPr algn="l">
              <a:lnSpc>
                <a:spcPts val="5599"/>
              </a:lnSpc>
              <a:spcBef>
                <a:spcPct val="0"/>
              </a:spcBef>
            </a:pPr>
            <a:r>
              <a:rPr lang="en-US" b="true" sz="3999">
                <a:solidFill>
                  <a:srgbClr val="000000"/>
                </a:solidFill>
                <a:latin typeface="Noto Sans Bold"/>
                <a:ea typeface="Noto Sans Bold"/>
                <a:cs typeface="Noto Sans Bold"/>
                <a:sym typeface="Noto Sans Bold"/>
              </a:rPr>
              <a:t>2. Hạn chế</a:t>
            </a:r>
          </a:p>
        </p:txBody>
      </p:sp>
      <p:sp>
        <p:nvSpPr>
          <p:cNvPr name="TextBox 17" id="17"/>
          <p:cNvSpPr txBox="true"/>
          <p:nvPr/>
        </p:nvSpPr>
        <p:spPr>
          <a:xfrm rot="0">
            <a:off x="912854" y="3623453"/>
            <a:ext cx="16181103" cy="6044567"/>
          </a:xfrm>
          <a:prstGeom prst="rect">
            <a:avLst/>
          </a:prstGeom>
        </p:spPr>
        <p:txBody>
          <a:bodyPr anchor="t" rtlCol="false" tIns="0" lIns="0" bIns="0" rIns="0">
            <a:spAutoFit/>
          </a:bodyPr>
          <a:lstStyle/>
          <a:p>
            <a:pPr algn="l">
              <a:lnSpc>
                <a:spcPts val="5399"/>
              </a:lnSpc>
            </a:pPr>
            <a:r>
              <a:rPr lang="en-US" sz="3599">
                <a:solidFill>
                  <a:srgbClr val="000000"/>
                </a:solidFill>
                <a:latin typeface="Noto Sans"/>
                <a:ea typeface="Noto Sans"/>
                <a:cs typeface="Noto Sans"/>
                <a:sym typeface="Noto Sans"/>
              </a:rPr>
              <a:t>-Khả năng chịu tải của hệ thống: Máy chủ xử lý kết nối mạng hiện đang hoạt động trên một luồng duy nhất. Trong trường hợp có hàng nghìn người chơi đồng thời truy cập và thao tác quân cờ, hệ thống có khả năng gặp hiện tượng thắt nút cổ chai dẫn đến tình trạng quá tải hoặc mất đồng bộ.</a:t>
            </a:r>
          </a:p>
          <a:p>
            <a:pPr algn="l">
              <a:lnSpc>
                <a:spcPts val="5399"/>
              </a:lnSpc>
            </a:pPr>
            <a:r>
              <a:rPr lang="en-US" sz="3599">
                <a:solidFill>
                  <a:srgbClr val="000000"/>
                </a:solidFill>
                <a:latin typeface="Noto Sans"/>
                <a:ea typeface="Noto Sans"/>
                <a:cs typeface="Noto Sans"/>
                <a:sym typeface="Noto Sans"/>
              </a:rPr>
              <a:t>-Chức năng cộng đồng còn giới hạn: Hệ thống hiện chỉ tập trung vào trải nghiệm thi đấu đối kháng thuần túy, chưa có các không gian tương tác mở cho người dùng.</a:t>
            </a:r>
          </a:p>
          <a:p>
            <a:pPr algn="l">
              <a:lnSpc>
                <a:spcPts val="5399"/>
              </a:lnSpc>
            </a:pPr>
          </a:p>
        </p:txBody>
      </p:sp>
    </p:spTree>
  </p:cSld>
  <p:clrMapOvr>
    <a:masterClrMapping/>
  </p:clrMapOvr>
  <p:transition spd="slow">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DAHNXqI0hxQ</dc:identifier>
  <dcterms:modified xsi:type="dcterms:W3CDTF">2011-08-01T06:04:30Z</dcterms:modified>
  <cp:revision>1</cp:revision>
  <dc:title>Đề tài: Trang Web chơi cờ vua trực tuyến</dc:title>
</cp:coreProperties>
</file>