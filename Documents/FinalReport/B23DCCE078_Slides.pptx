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Noto Sans Bold" charset="1" panose="020B0802040504020204"/>
      <p:regular r:id="rId21"/>
    </p:embeddedFont>
    <p:embeddedFont>
      <p:font typeface="Noto Sans" charset="1" panose="020B050204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30" Target="../media/image29.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30.png" Type="http://schemas.openxmlformats.org/officeDocument/2006/relationships/image"/><Relationship Id="rId29" Target="../media/image31.png" Type="http://schemas.openxmlformats.org/officeDocument/2006/relationships/image"/><Relationship Id="rId3" Target="../media/image2.svg" Type="http://schemas.openxmlformats.org/officeDocument/2006/relationships/image"/><Relationship Id="rId30" Target="../media/image3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33.png" Type="http://schemas.openxmlformats.org/officeDocument/2006/relationships/image"/><Relationship Id="rId29" Target="../media/image34.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36.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37.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38.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33.png" Type="http://schemas.openxmlformats.org/officeDocument/2006/relationships/image"/><Relationship Id="rId29" Target="../media/image34.svg" Type="http://schemas.openxmlformats.org/officeDocument/2006/relationships/image"/><Relationship Id="rId3" Target="../media/image2.svg" Type="http://schemas.openxmlformats.org/officeDocument/2006/relationships/image"/><Relationship Id="rId30" Target="../media/image39.png" Type="http://schemas.openxmlformats.org/officeDocument/2006/relationships/image"/><Relationship Id="rId31" Target="../media/image4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3864059" y="954392"/>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11496370" y="2371030"/>
            <a:ext cx="5346362" cy="5952651"/>
          </a:xfrm>
          <a:custGeom>
            <a:avLst/>
            <a:gdLst/>
            <a:ahLst/>
            <a:cxnLst/>
            <a:rect r="r" b="b" t="t" l="l"/>
            <a:pathLst>
              <a:path h="5952651" w="5346362">
                <a:moveTo>
                  <a:pt x="0" y="0"/>
                </a:moveTo>
                <a:lnTo>
                  <a:pt x="5346363" y="0"/>
                </a:lnTo>
                <a:lnTo>
                  <a:pt x="5346363" y="5952650"/>
                </a:lnTo>
                <a:lnTo>
                  <a:pt x="0" y="5952650"/>
                </a:lnTo>
                <a:lnTo>
                  <a:pt x="0" y="0"/>
                </a:lnTo>
                <a:close/>
              </a:path>
            </a:pathLst>
          </a:custGeom>
          <a:blipFill>
            <a:blip r:embed="rId30"/>
            <a:stretch>
              <a:fillRect l="0" t="0" r="0" b="0"/>
            </a:stretch>
          </a:blipFill>
        </p:spPr>
      </p:sp>
      <p:sp>
        <p:nvSpPr>
          <p:cNvPr name="TextBox 17" id="17"/>
          <p:cNvSpPr txBox="true"/>
          <p:nvPr/>
        </p:nvSpPr>
        <p:spPr>
          <a:xfrm rot="0">
            <a:off x="1579668" y="2615353"/>
            <a:ext cx="11322713" cy="2340106"/>
          </a:xfrm>
          <a:prstGeom prst="rect">
            <a:avLst/>
          </a:prstGeom>
        </p:spPr>
        <p:txBody>
          <a:bodyPr anchor="t" rtlCol="false" tIns="0" lIns="0" bIns="0" rIns="0">
            <a:spAutoFit/>
          </a:bodyPr>
          <a:lstStyle/>
          <a:p>
            <a:pPr algn="l">
              <a:lnSpc>
                <a:spcPts val="9494"/>
              </a:lnSpc>
            </a:pPr>
            <a:r>
              <a:rPr lang="en-US" sz="6329" b="true">
                <a:solidFill>
                  <a:srgbClr val="000000"/>
                </a:solidFill>
                <a:latin typeface="Noto Sans Bold"/>
                <a:ea typeface="Noto Sans Bold"/>
                <a:cs typeface="Noto Sans Bold"/>
                <a:sym typeface="Noto Sans Bold"/>
              </a:rPr>
              <a:t>Trang web chơi cờ vua trực tuyến</a:t>
            </a:r>
          </a:p>
        </p:txBody>
      </p:sp>
      <p:sp>
        <p:nvSpPr>
          <p:cNvPr name="TextBox 18" id="18"/>
          <p:cNvSpPr txBox="true"/>
          <p:nvPr/>
        </p:nvSpPr>
        <p:spPr>
          <a:xfrm rot="0">
            <a:off x="1775818" y="5679625"/>
            <a:ext cx="8148019" cy="1455015"/>
          </a:xfrm>
          <a:prstGeom prst="rect">
            <a:avLst/>
          </a:prstGeom>
        </p:spPr>
        <p:txBody>
          <a:bodyPr anchor="t" rtlCol="false" tIns="0" lIns="0" bIns="0" rIns="0">
            <a:spAutoFit/>
          </a:bodyPr>
          <a:lstStyle/>
          <a:p>
            <a:pPr algn="l">
              <a:lnSpc>
                <a:spcPts val="5902"/>
              </a:lnSpc>
            </a:pPr>
            <a:r>
              <a:rPr lang="en-US" sz="4216">
                <a:solidFill>
                  <a:srgbClr val="000000"/>
                </a:solidFill>
                <a:latin typeface="Noto Sans"/>
                <a:ea typeface="Noto Sans"/>
                <a:cs typeface="Noto Sans"/>
                <a:sym typeface="Noto Sans"/>
              </a:rPr>
              <a:t>Họ Tên: Nguyễn Phạm Anh Phúc</a:t>
            </a:r>
          </a:p>
          <a:p>
            <a:pPr algn="l">
              <a:lnSpc>
                <a:spcPts val="5902"/>
              </a:lnSpc>
              <a:spcBef>
                <a:spcPct val="0"/>
              </a:spcBef>
            </a:pPr>
            <a:r>
              <a:rPr lang="en-US" sz="4216">
                <a:solidFill>
                  <a:srgbClr val="000000"/>
                </a:solidFill>
                <a:latin typeface="Noto Sans"/>
                <a:ea typeface="Noto Sans"/>
                <a:cs typeface="Noto Sans"/>
                <a:sym typeface="Noto Sans"/>
              </a:rPr>
              <a:t>MSV: B23DCCE078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grpSp>
        <p:nvGrpSpPr>
          <p:cNvPr name="Group 15" id="15"/>
          <p:cNvGrpSpPr/>
          <p:nvPr/>
        </p:nvGrpSpPr>
        <p:grpSpPr>
          <a:xfrm rot="0">
            <a:off x="1686576" y="3418840"/>
            <a:ext cx="4368802" cy="4838087"/>
            <a:chOff x="0" y="0"/>
            <a:chExt cx="1150631" cy="1274229"/>
          </a:xfrm>
        </p:grpSpPr>
        <p:sp>
          <p:nvSpPr>
            <p:cNvPr name="Freeform 16" id="16"/>
            <p:cNvSpPr/>
            <p:nvPr/>
          </p:nvSpPr>
          <p:spPr>
            <a:xfrm flipH="false" flipV="false" rot="0">
              <a:off x="0" y="0"/>
              <a:ext cx="1150631" cy="1274229"/>
            </a:xfrm>
            <a:custGeom>
              <a:avLst/>
              <a:gdLst/>
              <a:ahLst/>
              <a:cxnLst/>
              <a:rect r="r" b="b" t="t" l="l"/>
              <a:pathLst>
                <a:path h="1274229" w="1150631">
                  <a:moveTo>
                    <a:pt x="30126" y="0"/>
                  </a:moveTo>
                  <a:lnTo>
                    <a:pt x="1120505" y="0"/>
                  </a:lnTo>
                  <a:cubicBezTo>
                    <a:pt x="1128495" y="0"/>
                    <a:pt x="1136158" y="3174"/>
                    <a:pt x="1141807" y="8824"/>
                  </a:cubicBezTo>
                  <a:cubicBezTo>
                    <a:pt x="1147457" y="14473"/>
                    <a:pt x="1150631" y="22136"/>
                    <a:pt x="1150631" y="30126"/>
                  </a:cubicBezTo>
                  <a:lnTo>
                    <a:pt x="1150631" y="1244103"/>
                  </a:lnTo>
                  <a:cubicBezTo>
                    <a:pt x="1150631" y="1260741"/>
                    <a:pt x="1137143" y="1274229"/>
                    <a:pt x="1120505" y="1274229"/>
                  </a:cubicBezTo>
                  <a:lnTo>
                    <a:pt x="30126" y="1274229"/>
                  </a:lnTo>
                  <a:cubicBezTo>
                    <a:pt x="13488" y="1274229"/>
                    <a:pt x="0" y="1260741"/>
                    <a:pt x="0" y="1244103"/>
                  </a:cubicBezTo>
                  <a:lnTo>
                    <a:pt x="0" y="30126"/>
                  </a:lnTo>
                  <a:cubicBezTo>
                    <a:pt x="0" y="13488"/>
                    <a:pt x="13488" y="0"/>
                    <a:pt x="30126" y="0"/>
                  </a:cubicBezTo>
                  <a:close/>
                </a:path>
              </a:pathLst>
            </a:custGeom>
            <a:ln w="38100" cap="sq">
              <a:solidFill>
                <a:srgbClr val="000000"/>
              </a:solidFill>
              <a:prstDash val="solid"/>
              <a:miter/>
            </a:ln>
          </p:spPr>
        </p:sp>
        <p:sp>
          <p:nvSpPr>
            <p:cNvPr name="TextBox 17" id="17"/>
            <p:cNvSpPr txBox="true"/>
            <p:nvPr/>
          </p:nvSpPr>
          <p:spPr>
            <a:xfrm>
              <a:off x="0" y="-38100"/>
              <a:ext cx="1150631" cy="1312329"/>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3027106" y="3797250"/>
            <a:ext cx="1687742" cy="2040633"/>
          </a:xfrm>
          <a:custGeom>
            <a:avLst/>
            <a:gdLst/>
            <a:ahLst/>
            <a:cxnLst/>
            <a:rect r="r" b="b" t="t" l="l"/>
            <a:pathLst>
              <a:path h="2040633" w="1687742">
                <a:moveTo>
                  <a:pt x="0" y="0"/>
                </a:moveTo>
                <a:lnTo>
                  <a:pt x="1687741" y="0"/>
                </a:lnTo>
                <a:lnTo>
                  <a:pt x="1687741" y="2040633"/>
                </a:lnTo>
                <a:lnTo>
                  <a:pt x="0" y="2040633"/>
                </a:lnTo>
                <a:lnTo>
                  <a:pt x="0" y="0"/>
                </a:lnTo>
                <a:close/>
              </a:path>
            </a:pathLst>
          </a:custGeom>
          <a:blipFill>
            <a:blip r:embed="rId28"/>
            <a:stretch>
              <a:fillRect l="0" t="0" r="0" b="0"/>
            </a:stretch>
          </a:blipFill>
        </p:spPr>
      </p:sp>
      <p:grpSp>
        <p:nvGrpSpPr>
          <p:cNvPr name="Group 19" id="19"/>
          <p:cNvGrpSpPr/>
          <p:nvPr/>
        </p:nvGrpSpPr>
        <p:grpSpPr>
          <a:xfrm rot="0">
            <a:off x="7203410" y="3418840"/>
            <a:ext cx="4368802" cy="4838087"/>
            <a:chOff x="0" y="0"/>
            <a:chExt cx="1150631" cy="1274229"/>
          </a:xfrm>
        </p:grpSpPr>
        <p:sp>
          <p:nvSpPr>
            <p:cNvPr name="Freeform 20" id="20"/>
            <p:cNvSpPr/>
            <p:nvPr/>
          </p:nvSpPr>
          <p:spPr>
            <a:xfrm flipH="false" flipV="false" rot="0">
              <a:off x="0" y="0"/>
              <a:ext cx="1150631" cy="1274229"/>
            </a:xfrm>
            <a:custGeom>
              <a:avLst/>
              <a:gdLst/>
              <a:ahLst/>
              <a:cxnLst/>
              <a:rect r="r" b="b" t="t" l="l"/>
              <a:pathLst>
                <a:path h="1274229" w="1150631">
                  <a:moveTo>
                    <a:pt x="30126" y="0"/>
                  </a:moveTo>
                  <a:lnTo>
                    <a:pt x="1120505" y="0"/>
                  </a:lnTo>
                  <a:cubicBezTo>
                    <a:pt x="1128495" y="0"/>
                    <a:pt x="1136158" y="3174"/>
                    <a:pt x="1141807" y="8824"/>
                  </a:cubicBezTo>
                  <a:cubicBezTo>
                    <a:pt x="1147457" y="14473"/>
                    <a:pt x="1150631" y="22136"/>
                    <a:pt x="1150631" y="30126"/>
                  </a:cubicBezTo>
                  <a:lnTo>
                    <a:pt x="1150631" y="1244103"/>
                  </a:lnTo>
                  <a:cubicBezTo>
                    <a:pt x="1150631" y="1260741"/>
                    <a:pt x="1137143" y="1274229"/>
                    <a:pt x="1120505" y="1274229"/>
                  </a:cubicBezTo>
                  <a:lnTo>
                    <a:pt x="30126" y="1274229"/>
                  </a:lnTo>
                  <a:cubicBezTo>
                    <a:pt x="13488" y="1274229"/>
                    <a:pt x="0" y="1260741"/>
                    <a:pt x="0" y="1244103"/>
                  </a:cubicBezTo>
                  <a:lnTo>
                    <a:pt x="0" y="30126"/>
                  </a:lnTo>
                  <a:cubicBezTo>
                    <a:pt x="0" y="13488"/>
                    <a:pt x="13488" y="0"/>
                    <a:pt x="30126" y="0"/>
                  </a:cubicBezTo>
                  <a:close/>
                </a:path>
              </a:pathLst>
            </a:custGeom>
            <a:ln w="38100" cap="sq">
              <a:solidFill>
                <a:srgbClr val="000000"/>
              </a:solidFill>
              <a:prstDash val="solid"/>
              <a:miter/>
            </a:ln>
          </p:spPr>
        </p:sp>
        <p:sp>
          <p:nvSpPr>
            <p:cNvPr name="TextBox 21" id="21"/>
            <p:cNvSpPr txBox="true"/>
            <p:nvPr/>
          </p:nvSpPr>
          <p:spPr>
            <a:xfrm>
              <a:off x="0" y="-38100"/>
              <a:ext cx="1150631" cy="1312329"/>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8392115" y="3511655"/>
            <a:ext cx="1991392" cy="2326228"/>
          </a:xfrm>
          <a:custGeom>
            <a:avLst/>
            <a:gdLst/>
            <a:ahLst/>
            <a:cxnLst/>
            <a:rect r="r" b="b" t="t" l="l"/>
            <a:pathLst>
              <a:path h="2326228" w="1991392">
                <a:moveTo>
                  <a:pt x="0" y="0"/>
                </a:moveTo>
                <a:lnTo>
                  <a:pt x="1991392" y="0"/>
                </a:lnTo>
                <a:lnTo>
                  <a:pt x="1991392" y="2326228"/>
                </a:lnTo>
                <a:lnTo>
                  <a:pt x="0" y="2326228"/>
                </a:lnTo>
                <a:lnTo>
                  <a:pt x="0" y="0"/>
                </a:lnTo>
                <a:close/>
              </a:path>
            </a:pathLst>
          </a:custGeom>
          <a:blipFill>
            <a:blip r:embed="rId29"/>
            <a:stretch>
              <a:fillRect l="0" t="0" r="0" b="0"/>
            </a:stretch>
          </a:blipFill>
        </p:spPr>
      </p:sp>
      <p:grpSp>
        <p:nvGrpSpPr>
          <p:cNvPr name="Group 23" id="23"/>
          <p:cNvGrpSpPr/>
          <p:nvPr/>
        </p:nvGrpSpPr>
        <p:grpSpPr>
          <a:xfrm rot="0">
            <a:off x="12724737" y="3418840"/>
            <a:ext cx="4368802" cy="4838087"/>
            <a:chOff x="0" y="0"/>
            <a:chExt cx="1150631" cy="1274229"/>
          </a:xfrm>
        </p:grpSpPr>
        <p:sp>
          <p:nvSpPr>
            <p:cNvPr name="Freeform 24" id="24"/>
            <p:cNvSpPr/>
            <p:nvPr/>
          </p:nvSpPr>
          <p:spPr>
            <a:xfrm flipH="false" flipV="false" rot="0">
              <a:off x="0" y="0"/>
              <a:ext cx="1150631" cy="1274229"/>
            </a:xfrm>
            <a:custGeom>
              <a:avLst/>
              <a:gdLst/>
              <a:ahLst/>
              <a:cxnLst/>
              <a:rect r="r" b="b" t="t" l="l"/>
              <a:pathLst>
                <a:path h="1274229" w="1150631">
                  <a:moveTo>
                    <a:pt x="30126" y="0"/>
                  </a:moveTo>
                  <a:lnTo>
                    <a:pt x="1120505" y="0"/>
                  </a:lnTo>
                  <a:cubicBezTo>
                    <a:pt x="1128495" y="0"/>
                    <a:pt x="1136158" y="3174"/>
                    <a:pt x="1141807" y="8824"/>
                  </a:cubicBezTo>
                  <a:cubicBezTo>
                    <a:pt x="1147457" y="14473"/>
                    <a:pt x="1150631" y="22136"/>
                    <a:pt x="1150631" y="30126"/>
                  </a:cubicBezTo>
                  <a:lnTo>
                    <a:pt x="1150631" y="1244103"/>
                  </a:lnTo>
                  <a:cubicBezTo>
                    <a:pt x="1150631" y="1260741"/>
                    <a:pt x="1137143" y="1274229"/>
                    <a:pt x="1120505" y="1274229"/>
                  </a:cubicBezTo>
                  <a:lnTo>
                    <a:pt x="30126" y="1274229"/>
                  </a:lnTo>
                  <a:cubicBezTo>
                    <a:pt x="13488" y="1274229"/>
                    <a:pt x="0" y="1260741"/>
                    <a:pt x="0" y="1244103"/>
                  </a:cubicBezTo>
                  <a:lnTo>
                    <a:pt x="0" y="30126"/>
                  </a:lnTo>
                  <a:cubicBezTo>
                    <a:pt x="0" y="13488"/>
                    <a:pt x="13488" y="0"/>
                    <a:pt x="30126" y="0"/>
                  </a:cubicBezTo>
                  <a:close/>
                </a:path>
              </a:pathLst>
            </a:custGeom>
            <a:ln w="38100" cap="sq">
              <a:solidFill>
                <a:srgbClr val="000000"/>
              </a:solidFill>
              <a:prstDash val="solid"/>
              <a:miter/>
            </a:ln>
          </p:spPr>
        </p:sp>
        <p:sp>
          <p:nvSpPr>
            <p:cNvPr name="TextBox 25" id="25"/>
            <p:cNvSpPr txBox="true"/>
            <p:nvPr/>
          </p:nvSpPr>
          <p:spPr>
            <a:xfrm>
              <a:off x="0" y="-38100"/>
              <a:ext cx="1150631" cy="1312329"/>
            </a:xfrm>
            <a:prstGeom prst="rect">
              <a:avLst/>
            </a:prstGeom>
          </p:spPr>
          <p:txBody>
            <a:bodyPr anchor="ctr" rtlCol="false" tIns="50800" lIns="50800" bIns="50800" rIns="50800"/>
            <a:lstStyle/>
            <a:p>
              <a:pPr algn="ctr">
                <a:lnSpc>
                  <a:spcPts val="2659"/>
                </a:lnSpc>
                <a:spcBef>
                  <a:spcPct val="0"/>
                </a:spcBef>
              </a:pPr>
            </a:p>
          </p:txBody>
        </p:sp>
      </p:grpSp>
      <p:sp>
        <p:nvSpPr>
          <p:cNvPr name="Freeform 26" id="26"/>
          <p:cNvSpPr/>
          <p:nvPr/>
        </p:nvSpPr>
        <p:spPr>
          <a:xfrm flipH="false" flipV="false" rot="0">
            <a:off x="14158666" y="3641569"/>
            <a:ext cx="1500944" cy="2351995"/>
          </a:xfrm>
          <a:custGeom>
            <a:avLst/>
            <a:gdLst/>
            <a:ahLst/>
            <a:cxnLst/>
            <a:rect r="r" b="b" t="t" l="l"/>
            <a:pathLst>
              <a:path h="2351995" w="1500944">
                <a:moveTo>
                  <a:pt x="0" y="0"/>
                </a:moveTo>
                <a:lnTo>
                  <a:pt x="1500944" y="0"/>
                </a:lnTo>
                <a:lnTo>
                  <a:pt x="1500944" y="2351995"/>
                </a:lnTo>
                <a:lnTo>
                  <a:pt x="0" y="2351995"/>
                </a:lnTo>
                <a:lnTo>
                  <a:pt x="0" y="0"/>
                </a:lnTo>
                <a:close/>
              </a:path>
            </a:pathLst>
          </a:custGeom>
          <a:blipFill>
            <a:blip r:embed="rId30"/>
            <a:stretch>
              <a:fillRect l="0" t="0" r="0" b="0"/>
            </a:stretch>
          </a:blipFill>
        </p:spPr>
      </p:sp>
      <p:sp>
        <p:nvSpPr>
          <p:cNvPr name="TextBox 27" id="27"/>
          <p:cNvSpPr txBox="true"/>
          <p:nvPr/>
        </p:nvSpPr>
        <p:spPr>
          <a:xfrm rot="0">
            <a:off x="2108499" y="5874712"/>
            <a:ext cx="3524954" cy="2077705"/>
          </a:xfrm>
          <a:prstGeom prst="rect">
            <a:avLst/>
          </a:prstGeom>
        </p:spPr>
        <p:txBody>
          <a:bodyPr anchor="t" rtlCol="false" tIns="0" lIns="0" bIns="0" rIns="0">
            <a:spAutoFit/>
          </a:bodyPr>
          <a:lstStyle/>
          <a:p>
            <a:pPr algn="l">
              <a:lnSpc>
                <a:spcPts val="4130"/>
              </a:lnSpc>
              <a:spcBef>
                <a:spcPct val="0"/>
              </a:spcBef>
            </a:pPr>
            <a:r>
              <a:rPr lang="en-US" sz="2950">
                <a:solidFill>
                  <a:srgbClr val="000000"/>
                </a:solidFill>
                <a:latin typeface="Noto Sans"/>
                <a:ea typeface="Noto Sans"/>
                <a:cs typeface="Noto Sans"/>
                <a:sym typeface="Noto Sans"/>
              </a:rPr>
              <a:t>Môi trường tĩnh. Đấu ngoại tuyến với BOT để rèn luyện các kỹ năng </a:t>
            </a:r>
          </a:p>
        </p:txBody>
      </p:sp>
      <p:sp>
        <p:nvSpPr>
          <p:cNvPr name="TextBox 28" id="28"/>
          <p:cNvSpPr txBox="true"/>
          <p:nvPr/>
        </p:nvSpPr>
        <p:spPr>
          <a:xfrm rot="0">
            <a:off x="7625334" y="5874712"/>
            <a:ext cx="3524954" cy="2077705"/>
          </a:xfrm>
          <a:prstGeom prst="rect">
            <a:avLst/>
          </a:prstGeom>
        </p:spPr>
        <p:txBody>
          <a:bodyPr anchor="t" rtlCol="false" tIns="0" lIns="0" bIns="0" rIns="0">
            <a:spAutoFit/>
          </a:bodyPr>
          <a:lstStyle/>
          <a:p>
            <a:pPr algn="l">
              <a:lnSpc>
                <a:spcPts val="4130"/>
              </a:lnSpc>
              <a:spcBef>
                <a:spcPct val="0"/>
              </a:spcBef>
            </a:pPr>
            <a:r>
              <a:rPr lang="en-US" sz="2950">
                <a:solidFill>
                  <a:srgbClr val="000000"/>
                </a:solidFill>
                <a:latin typeface="Noto Sans"/>
                <a:ea typeface="Noto Sans"/>
                <a:cs typeface="Noto Sans"/>
                <a:sym typeface="Noto Sans"/>
              </a:rPr>
              <a:t>Chế độ trực tuyến. Ghép trận ngẫu nhiên, cọ xát, thi đấu</a:t>
            </a:r>
          </a:p>
        </p:txBody>
      </p:sp>
      <p:sp>
        <p:nvSpPr>
          <p:cNvPr name="TextBox 29" id="29"/>
          <p:cNvSpPr txBox="true"/>
          <p:nvPr/>
        </p:nvSpPr>
        <p:spPr>
          <a:xfrm rot="0">
            <a:off x="1405171" y="1429521"/>
            <a:ext cx="5861209"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 Giới thiệu chung</a:t>
            </a:r>
          </a:p>
        </p:txBody>
      </p:sp>
      <p:sp>
        <p:nvSpPr>
          <p:cNvPr name="TextBox 30" id="30"/>
          <p:cNvSpPr txBox="true"/>
          <p:nvPr/>
        </p:nvSpPr>
        <p:spPr>
          <a:xfrm rot="0">
            <a:off x="13146661" y="5874712"/>
            <a:ext cx="3524954" cy="1553830"/>
          </a:xfrm>
          <a:prstGeom prst="rect">
            <a:avLst/>
          </a:prstGeom>
        </p:spPr>
        <p:txBody>
          <a:bodyPr anchor="t" rtlCol="false" tIns="0" lIns="0" bIns="0" rIns="0">
            <a:spAutoFit/>
          </a:bodyPr>
          <a:lstStyle/>
          <a:p>
            <a:pPr algn="l">
              <a:lnSpc>
                <a:spcPts val="4130"/>
              </a:lnSpc>
              <a:spcBef>
                <a:spcPct val="0"/>
              </a:spcBef>
            </a:pPr>
            <a:r>
              <a:rPr lang="en-US" sz="2950">
                <a:solidFill>
                  <a:srgbClr val="000000"/>
                </a:solidFill>
                <a:latin typeface="Noto Sans"/>
                <a:ea typeface="Noto Sans"/>
                <a:cs typeface="Noto Sans"/>
                <a:sym typeface="Noto Sans"/>
              </a:rPr>
              <a:t>Tính toán và cập nhật điểm số của người chơi lên BXH</a:t>
            </a:r>
          </a:p>
        </p:txBody>
      </p:sp>
      <p:sp>
        <p:nvSpPr>
          <p:cNvPr name="TextBox 31" id="31"/>
          <p:cNvSpPr txBox="true"/>
          <p:nvPr/>
        </p:nvSpPr>
        <p:spPr>
          <a:xfrm rot="0">
            <a:off x="1405171" y="2294830"/>
            <a:ext cx="4331256"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1. Mục tiêu đồ án</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3307048" y="-2181512"/>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6" id="16"/>
          <p:cNvSpPr/>
          <p:nvPr/>
        </p:nvSpPr>
        <p:spPr>
          <a:xfrm flipH="false" flipV="false" rot="0">
            <a:off x="6018093" y="3312490"/>
            <a:ext cx="5384831" cy="3211317"/>
          </a:xfrm>
          <a:custGeom>
            <a:avLst/>
            <a:gdLst/>
            <a:ahLst/>
            <a:cxnLst/>
            <a:rect r="r" b="b" t="t" l="l"/>
            <a:pathLst>
              <a:path h="3211317" w="5384831">
                <a:moveTo>
                  <a:pt x="0" y="0"/>
                </a:moveTo>
                <a:lnTo>
                  <a:pt x="5384831" y="0"/>
                </a:lnTo>
                <a:lnTo>
                  <a:pt x="5384831" y="3211317"/>
                </a:lnTo>
                <a:lnTo>
                  <a:pt x="0" y="321131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17" id="17"/>
          <p:cNvSpPr txBox="true"/>
          <p:nvPr/>
        </p:nvSpPr>
        <p:spPr>
          <a:xfrm rot="0">
            <a:off x="-1120816" y="1721428"/>
            <a:ext cx="12556769"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Noto Sans Bold"/>
                <a:ea typeface="Noto Sans Bold"/>
                <a:cs typeface="Noto Sans Bold"/>
                <a:sym typeface="Noto Sans Bold"/>
              </a:rPr>
              <a:t>2</a:t>
            </a:r>
            <a:r>
              <a:rPr lang="en-US" b="true" sz="3999">
                <a:solidFill>
                  <a:srgbClr val="000000"/>
                </a:solidFill>
                <a:latin typeface="Noto Sans Bold"/>
                <a:ea typeface="Noto Sans Bold"/>
                <a:cs typeface="Noto Sans Bold"/>
                <a:sym typeface="Noto Sans Bold"/>
              </a:rPr>
              <a:t>. Phạm vi nghiên cứu và ứng dụng</a:t>
            </a:r>
          </a:p>
        </p:txBody>
      </p:sp>
      <p:sp>
        <p:nvSpPr>
          <p:cNvPr name="TextBox 18" id="18"/>
          <p:cNvSpPr txBox="true"/>
          <p:nvPr/>
        </p:nvSpPr>
        <p:spPr>
          <a:xfrm rot="0">
            <a:off x="2735836" y="7155630"/>
            <a:ext cx="13745482" cy="1384300"/>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Noto Sans"/>
                <a:ea typeface="Noto Sans"/>
                <a:cs typeface="Noto Sans"/>
                <a:sym typeface="Noto Sans"/>
              </a:rPr>
              <a:t>Chạy trên nền tảng web thông qua trình duyệt máy tính. Chưa hỗ trợ trên nền tảng thiết bị di động.</a:t>
            </a:r>
          </a:p>
        </p:txBody>
      </p:sp>
      <p:sp>
        <p:nvSpPr>
          <p:cNvPr name="TextBox 19" id="19"/>
          <p:cNvSpPr txBox="true"/>
          <p:nvPr/>
        </p:nvSpPr>
        <p:spPr>
          <a:xfrm rot="0">
            <a:off x="1028700" y="2486603"/>
            <a:ext cx="3174802" cy="596900"/>
          </a:xfrm>
          <a:prstGeom prst="rect">
            <a:avLst/>
          </a:prstGeom>
        </p:spPr>
        <p:txBody>
          <a:bodyPr anchor="t" rtlCol="false" tIns="0" lIns="0" bIns="0" rIns="0">
            <a:spAutoFit/>
          </a:bodyPr>
          <a:lstStyle/>
          <a:p>
            <a:pPr algn="l">
              <a:lnSpc>
                <a:spcPts val="4900"/>
              </a:lnSpc>
              <a:spcBef>
                <a:spcPct val="0"/>
              </a:spcBef>
            </a:pPr>
            <a:r>
              <a:rPr lang="en-US" b="true" sz="3500">
                <a:solidFill>
                  <a:srgbClr val="000000"/>
                </a:solidFill>
                <a:latin typeface="Noto Sans Bold"/>
                <a:ea typeface="Noto Sans Bold"/>
                <a:cs typeface="Noto Sans Bold"/>
                <a:sym typeface="Noto Sans Bold"/>
              </a:rPr>
              <a:t>a. Về nền tảng</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07048" y="-2181512"/>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48571" y="-1142620"/>
            <a:ext cx="2597326" cy="2796583"/>
          </a:xfrm>
          <a:custGeom>
            <a:avLst/>
            <a:gdLst/>
            <a:ahLst/>
            <a:cxnLst/>
            <a:rect r="r" b="b" t="t" l="l"/>
            <a:pathLst>
              <a:path h="2796583" w="2597326">
                <a:moveTo>
                  <a:pt x="0" y="0"/>
                </a:moveTo>
                <a:lnTo>
                  <a:pt x="2597327" y="0"/>
                </a:lnTo>
                <a:lnTo>
                  <a:pt x="2597327" y="2796582"/>
                </a:lnTo>
                <a:lnTo>
                  <a:pt x="0" y="27965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0539182" y="2737300"/>
            <a:ext cx="6543007" cy="5864913"/>
          </a:xfrm>
          <a:custGeom>
            <a:avLst/>
            <a:gdLst/>
            <a:ahLst/>
            <a:cxnLst/>
            <a:rect r="r" b="b" t="t" l="l"/>
            <a:pathLst>
              <a:path h="5864913" w="6543007">
                <a:moveTo>
                  <a:pt x="0" y="0"/>
                </a:moveTo>
                <a:lnTo>
                  <a:pt x="6543007" y="0"/>
                </a:lnTo>
                <a:lnTo>
                  <a:pt x="6543007" y="5864913"/>
                </a:lnTo>
                <a:lnTo>
                  <a:pt x="0" y="5864913"/>
                </a:lnTo>
                <a:lnTo>
                  <a:pt x="0" y="0"/>
                </a:lnTo>
                <a:close/>
              </a:path>
            </a:pathLst>
          </a:custGeom>
          <a:blipFill>
            <a:blip r:embed="rId10"/>
            <a:stretch>
              <a:fillRect l="0" t="0" r="0" b="0"/>
            </a:stretch>
          </a:blipFill>
        </p:spPr>
      </p:sp>
      <p:sp>
        <p:nvSpPr>
          <p:cNvPr name="TextBox 7" id="7"/>
          <p:cNvSpPr txBox="true"/>
          <p:nvPr/>
        </p:nvSpPr>
        <p:spPr>
          <a:xfrm rot="0">
            <a:off x="1337928" y="4009332"/>
            <a:ext cx="7740729" cy="2946328"/>
          </a:xfrm>
          <a:prstGeom prst="rect">
            <a:avLst/>
          </a:prstGeom>
        </p:spPr>
        <p:txBody>
          <a:bodyPr anchor="t" rtlCol="false" tIns="0" lIns="0" bIns="0" rIns="0">
            <a:spAutoFit/>
          </a:bodyPr>
          <a:lstStyle/>
          <a:p>
            <a:pPr algn="l">
              <a:lnSpc>
                <a:spcPts val="5913"/>
              </a:lnSpc>
              <a:spcBef>
                <a:spcPct val="0"/>
              </a:spcBef>
            </a:pPr>
            <a:r>
              <a:rPr lang="en-US" sz="4224">
                <a:solidFill>
                  <a:srgbClr val="000000"/>
                </a:solidFill>
                <a:latin typeface="Noto Sans"/>
                <a:ea typeface="Noto Sans"/>
                <a:cs typeface="Noto Sans"/>
                <a:sym typeface="Noto Sans"/>
              </a:rPr>
              <a:t>Hệ thống tuân thủ các quy tắc của cờ vua tiêu chuẩn quốc tế. Không hỗ trợ các biến thể cờ vua mở rộng</a:t>
            </a:r>
          </a:p>
        </p:txBody>
      </p:sp>
      <p:sp>
        <p:nvSpPr>
          <p:cNvPr name="TextBox 8" id="8"/>
          <p:cNvSpPr txBox="true"/>
          <p:nvPr/>
        </p:nvSpPr>
        <p:spPr>
          <a:xfrm rot="0">
            <a:off x="1170060" y="1596812"/>
            <a:ext cx="3268861"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Noto Sans Bold"/>
                <a:ea typeface="Noto Sans Bold"/>
                <a:cs typeface="Noto Sans Bold"/>
                <a:sym typeface="Noto Sans Bold"/>
              </a:rPr>
              <a:t>b.  Về luật chơi</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07048" y="-2181512"/>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848571" y="-1142620"/>
            <a:ext cx="2597326" cy="2796583"/>
          </a:xfrm>
          <a:custGeom>
            <a:avLst/>
            <a:gdLst/>
            <a:ahLst/>
            <a:cxnLst/>
            <a:rect r="r" b="b" t="t" l="l"/>
            <a:pathLst>
              <a:path h="2796583" w="2597326">
                <a:moveTo>
                  <a:pt x="0" y="0"/>
                </a:moveTo>
                <a:lnTo>
                  <a:pt x="2597327" y="0"/>
                </a:lnTo>
                <a:lnTo>
                  <a:pt x="2597327" y="2796582"/>
                </a:lnTo>
                <a:lnTo>
                  <a:pt x="0" y="27965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6" id="6"/>
          <p:cNvSpPr txBox="true"/>
          <p:nvPr/>
        </p:nvSpPr>
        <p:spPr>
          <a:xfrm rot="0">
            <a:off x="1086902" y="1596812"/>
            <a:ext cx="3458408" cy="587375"/>
          </a:xfrm>
          <a:prstGeom prst="rect">
            <a:avLst/>
          </a:prstGeom>
        </p:spPr>
        <p:txBody>
          <a:bodyPr anchor="t" rtlCol="false" tIns="0" lIns="0" bIns="0" rIns="0">
            <a:spAutoFit/>
          </a:bodyPr>
          <a:lstStyle/>
          <a:p>
            <a:pPr algn="l">
              <a:lnSpc>
                <a:spcPts val="4899"/>
              </a:lnSpc>
              <a:spcBef>
                <a:spcPct val="0"/>
              </a:spcBef>
            </a:pPr>
            <a:r>
              <a:rPr lang="en-US" b="true" sz="3499">
                <a:solidFill>
                  <a:srgbClr val="000000"/>
                </a:solidFill>
                <a:latin typeface="Noto Sans Bold"/>
                <a:ea typeface="Noto Sans Bold"/>
                <a:cs typeface="Noto Sans Bold"/>
                <a:sym typeface="Noto Sans Bold"/>
              </a:rPr>
              <a:t>c. Về công nghệ</a:t>
            </a:r>
          </a:p>
        </p:txBody>
      </p:sp>
      <p:grpSp>
        <p:nvGrpSpPr>
          <p:cNvPr name="Group 7" id="7"/>
          <p:cNvGrpSpPr/>
          <p:nvPr/>
        </p:nvGrpSpPr>
        <p:grpSpPr>
          <a:xfrm rot="0">
            <a:off x="831407" y="4285430"/>
            <a:ext cx="4855513" cy="3834440"/>
            <a:chOff x="0" y="0"/>
            <a:chExt cx="1278818" cy="1009894"/>
          </a:xfrm>
        </p:grpSpPr>
        <p:sp>
          <p:nvSpPr>
            <p:cNvPr name="Freeform 8" id="8"/>
            <p:cNvSpPr/>
            <p:nvPr/>
          </p:nvSpPr>
          <p:spPr>
            <a:xfrm flipH="false" flipV="false" rot="0">
              <a:off x="0" y="0"/>
              <a:ext cx="1278818" cy="1009894"/>
            </a:xfrm>
            <a:custGeom>
              <a:avLst/>
              <a:gdLst/>
              <a:ahLst/>
              <a:cxnLst/>
              <a:rect r="r" b="b" t="t" l="l"/>
              <a:pathLst>
                <a:path h="1009894" w="1278818">
                  <a:moveTo>
                    <a:pt x="0" y="0"/>
                  </a:moveTo>
                  <a:lnTo>
                    <a:pt x="1278818" y="0"/>
                  </a:lnTo>
                  <a:lnTo>
                    <a:pt x="1278818" y="1009894"/>
                  </a:lnTo>
                  <a:lnTo>
                    <a:pt x="0" y="1009894"/>
                  </a:lnTo>
                  <a:close/>
                </a:path>
              </a:pathLst>
            </a:custGeom>
            <a:solidFill>
              <a:srgbClr val="8AB7E2"/>
            </a:solidFill>
          </p:spPr>
        </p:sp>
        <p:sp>
          <p:nvSpPr>
            <p:cNvPr name="TextBox 9" id="9"/>
            <p:cNvSpPr txBox="true"/>
            <p:nvPr/>
          </p:nvSpPr>
          <p:spPr>
            <a:xfrm>
              <a:off x="0" y="-38100"/>
              <a:ext cx="1278818" cy="104799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543268" y="2435675"/>
            <a:ext cx="5829314" cy="3041855"/>
            <a:chOff x="0" y="0"/>
            <a:chExt cx="1535292" cy="801147"/>
          </a:xfrm>
        </p:grpSpPr>
        <p:sp>
          <p:nvSpPr>
            <p:cNvPr name="Freeform 11" id="11"/>
            <p:cNvSpPr/>
            <p:nvPr/>
          </p:nvSpPr>
          <p:spPr>
            <a:xfrm flipH="false" flipV="false" rot="0">
              <a:off x="0" y="0"/>
              <a:ext cx="1535293" cy="801147"/>
            </a:xfrm>
            <a:custGeom>
              <a:avLst/>
              <a:gdLst/>
              <a:ahLst/>
              <a:cxnLst/>
              <a:rect r="r" b="b" t="t" l="l"/>
              <a:pathLst>
                <a:path h="801147" w="1535293">
                  <a:moveTo>
                    <a:pt x="0" y="0"/>
                  </a:moveTo>
                  <a:lnTo>
                    <a:pt x="1535293" y="0"/>
                  </a:lnTo>
                  <a:lnTo>
                    <a:pt x="1535293" y="801147"/>
                  </a:lnTo>
                  <a:lnTo>
                    <a:pt x="0" y="801147"/>
                  </a:lnTo>
                  <a:close/>
                </a:path>
              </a:pathLst>
            </a:custGeom>
            <a:solidFill>
              <a:srgbClr val="8AB7E2"/>
            </a:solidFill>
          </p:spPr>
        </p:sp>
        <p:sp>
          <p:nvSpPr>
            <p:cNvPr name="TextBox 12" id="12"/>
            <p:cNvSpPr txBox="true"/>
            <p:nvPr/>
          </p:nvSpPr>
          <p:spPr>
            <a:xfrm>
              <a:off x="0" y="-38100"/>
              <a:ext cx="1535292" cy="839247"/>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543268" y="6297384"/>
            <a:ext cx="5829314" cy="2987132"/>
            <a:chOff x="0" y="0"/>
            <a:chExt cx="1535292" cy="786734"/>
          </a:xfrm>
        </p:grpSpPr>
        <p:sp>
          <p:nvSpPr>
            <p:cNvPr name="Freeform 14" id="14"/>
            <p:cNvSpPr/>
            <p:nvPr/>
          </p:nvSpPr>
          <p:spPr>
            <a:xfrm flipH="false" flipV="false" rot="0">
              <a:off x="0" y="0"/>
              <a:ext cx="1535293" cy="786734"/>
            </a:xfrm>
            <a:custGeom>
              <a:avLst/>
              <a:gdLst/>
              <a:ahLst/>
              <a:cxnLst/>
              <a:rect r="r" b="b" t="t" l="l"/>
              <a:pathLst>
                <a:path h="786734" w="1535293">
                  <a:moveTo>
                    <a:pt x="0" y="0"/>
                  </a:moveTo>
                  <a:lnTo>
                    <a:pt x="1535293" y="0"/>
                  </a:lnTo>
                  <a:lnTo>
                    <a:pt x="1535293" y="786734"/>
                  </a:lnTo>
                  <a:lnTo>
                    <a:pt x="0" y="786734"/>
                  </a:lnTo>
                  <a:close/>
                </a:path>
              </a:pathLst>
            </a:custGeom>
            <a:solidFill>
              <a:srgbClr val="8AB7E2"/>
            </a:solidFill>
          </p:spPr>
        </p:sp>
        <p:sp>
          <p:nvSpPr>
            <p:cNvPr name="TextBox 15" id="15"/>
            <p:cNvSpPr txBox="true"/>
            <p:nvPr/>
          </p:nvSpPr>
          <p:spPr>
            <a:xfrm>
              <a:off x="0" y="-38100"/>
              <a:ext cx="1535292" cy="824834"/>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a:off x="5686920" y="3956602"/>
            <a:ext cx="4856348" cy="2246049"/>
          </a:xfrm>
          <a:custGeom>
            <a:avLst/>
            <a:gdLst/>
            <a:ahLst/>
            <a:cxnLst/>
            <a:rect r="r" b="b" t="t" l="l"/>
            <a:pathLst>
              <a:path h="2246049" w="4856348">
                <a:moveTo>
                  <a:pt x="0" y="2246048"/>
                </a:moveTo>
                <a:lnTo>
                  <a:pt x="2199574" y="2246048"/>
                </a:lnTo>
                <a:cubicBezTo>
                  <a:pt x="2260203" y="2246048"/>
                  <a:pt x="2318348" y="2221964"/>
                  <a:pt x="2361218" y="2179093"/>
                </a:cubicBezTo>
                <a:cubicBezTo>
                  <a:pt x="2404089" y="2136222"/>
                  <a:pt x="2428174" y="2078077"/>
                  <a:pt x="2428174" y="2017448"/>
                </a:cubicBezTo>
                <a:lnTo>
                  <a:pt x="2428174" y="228600"/>
                </a:lnTo>
                <a:cubicBezTo>
                  <a:pt x="2428174" y="167971"/>
                  <a:pt x="2452258" y="109826"/>
                  <a:pt x="2495129" y="66955"/>
                </a:cubicBezTo>
                <a:cubicBezTo>
                  <a:pt x="2538000" y="24084"/>
                  <a:pt x="2596145" y="0"/>
                  <a:pt x="2656774" y="0"/>
                </a:cubicBezTo>
                <a:lnTo>
                  <a:pt x="4856348" y="0"/>
                </a:lnTo>
              </a:path>
            </a:pathLst>
          </a:custGeom>
          <a:ln cap="flat" w="38100">
            <a:solidFill>
              <a:srgbClr val="000000"/>
            </a:solidFill>
            <a:prstDash val="solid"/>
            <a:headEnd type="none" len="sm" w="sm"/>
            <a:tailEnd type="arrow" len="sm" w="med"/>
          </a:ln>
        </p:spPr>
      </p:sp>
      <p:sp>
        <p:nvSpPr>
          <p:cNvPr name="Freeform 17" id="17"/>
          <p:cNvSpPr/>
          <p:nvPr/>
        </p:nvSpPr>
        <p:spPr>
          <a:xfrm>
            <a:off x="5686920" y="6202650"/>
            <a:ext cx="4856348" cy="1588300"/>
          </a:xfrm>
          <a:custGeom>
            <a:avLst/>
            <a:gdLst/>
            <a:ahLst/>
            <a:cxnLst/>
            <a:rect r="r" b="b" t="t" l="l"/>
            <a:pathLst>
              <a:path h="1588300" w="4856348">
                <a:moveTo>
                  <a:pt x="0" y="0"/>
                </a:moveTo>
                <a:lnTo>
                  <a:pt x="2199574" y="0"/>
                </a:lnTo>
                <a:cubicBezTo>
                  <a:pt x="2260203" y="0"/>
                  <a:pt x="2318348" y="24085"/>
                  <a:pt x="2361218" y="66956"/>
                </a:cubicBezTo>
                <a:cubicBezTo>
                  <a:pt x="2404089" y="109827"/>
                  <a:pt x="2428174" y="167972"/>
                  <a:pt x="2428174" y="228600"/>
                </a:cubicBezTo>
                <a:lnTo>
                  <a:pt x="2428174" y="1359700"/>
                </a:lnTo>
                <a:cubicBezTo>
                  <a:pt x="2428174" y="1485952"/>
                  <a:pt x="2530522" y="1588300"/>
                  <a:pt x="2656774" y="1588300"/>
                </a:cubicBezTo>
                <a:lnTo>
                  <a:pt x="4856348" y="1588300"/>
                </a:lnTo>
              </a:path>
            </a:pathLst>
          </a:custGeom>
          <a:ln cap="flat" w="38100">
            <a:solidFill>
              <a:srgbClr val="000000"/>
            </a:solidFill>
            <a:prstDash val="solid"/>
            <a:headEnd type="none" len="sm" w="sm"/>
            <a:tailEnd type="arrow" len="sm" w="med"/>
          </a:ln>
        </p:spPr>
      </p:sp>
      <p:sp>
        <p:nvSpPr>
          <p:cNvPr name="TextBox 18" id="18"/>
          <p:cNvSpPr txBox="true"/>
          <p:nvPr/>
        </p:nvSpPr>
        <p:spPr>
          <a:xfrm rot="0">
            <a:off x="1638484" y="4385944"/>
            <a:ext cx="3086100"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Noto Sans"/>
                <a:ea typeface="Noto Sans"/>
                <a:cs typeface="Noto Sans"/>
                <a:sym typeface="Noto Sans"/>
              </a:rPr>
              <a:t>Frontend</a:t>
            </a:r>
          </a:p>
        </p:txBody>
      </p:sp>
      <p:sp>
        <p:nvSpPr>
          <p:cNvPr name="TextBox 19" id="19"/>
          <p:cNvSpPr txBox="true"/>
          <p:nvPr/>
        </p:nvSpPr>
        <p:spPr>
          <a:xfrm rot="0">
            <a:off x="665085" y="5454875"/>
            <a:ext cx="5021835" cy="1362711"/>
          </a:xfrm>
          <a:prstGeom prst="rect">
            <a:avLst/>
          </a:prstGeom>
        </p:spPr>
        <p:txBody>
          <a:bodyPr anchor="t" rtlCol="false" tIns="0" lIns="0" bIns="0" rIns="0">
            <a:spAutoFit/>
          </a:bodyPr>
          <a:lstStyle/>
          <a:p>
            <a:pPr algn="l" marL="561336" indent="-280668" lvl="1">
              <a:lnSpc>
                <a:spcPts val="3639"/>
              </a:lnSpc>
              <a:buFont typeface="Arial"/>
              <a:buChar char="•"/>
            </a:pPr>
            <a:r>
              <a:rPr lang="en-US" sz="2599">
                <a:solidFill>
                  <a:srgbClr val="000000"/>
                </a:solidFill>
                <a:latin typeface="Noto Sans"/>
                <a:ea typeface="Noto Sans"/>
                <a:cs typeface="Noto Sans"/>
                <a:sym typeface="Noto Sans"/>
              </a:rPr>
              <a:t>HTML/CSS/JavaScript</a:t>
            </a:r>
          </a:p>
          <a:p>
            <a:pPr algn="l" marL="561336" indent="-280668" lvl="1">
              <a:lnSpc>
                <a:spcPts val="3639"/>
              </a:lnSpc>
              <a:buFont typeface="Arial"/>
              <a:buChar char="•"/>
            </a:pPr>
            <a:r>
              <a:rPr lang="en-US" sz="2599">
                <a:solidFill>
                  <a:srgbClr val="000000"/>
                </a:solidFill>
                <a:latin typeface="Noto Sans"/>
                <a:ea typeface="Noto Sans"/>
                <a:cs typeface="Noto Sans"/>
                <a:sym typeface="Noto Sans"/>
              </a:rPr>
              <a:t>chessboard.js, chess.js và stockfish.js</a:t>
            </a:r>
          </a:p>
        </p:txBody>
      </p:sp>
      <p:sp>
        <p:nvSpPr>
          <p:cNvPr name="TextBox 20" id="20"/>
          <p:cNvSpPr txBox="true"/>
          <p:nvPr/>
        </p:nvSpPr>
        <p:spPr>
          <a:xfrm rot="0">
            <a:off x="10543268" y="2466117"/>
            <a:ext cx="5829314" cy="497841"/>
          </a:xfrm>
          <a:prstGeom prst="rect">
            <a:avLst/>
          </a:prstGeom>
        </p:spPr>
        <p:txBody>
          <a:bodyPr anchor="t" rtlCol="false" tIns="0" lIns="0" bIns="0" rIns="0">
            <a:spAutoFit/>
          </a:bodyPr>
          <a:lstStyle/>
          <a:p>
            <a:pPr algn="ctr">
              <a:lnSpc>
                <a:spcPts val="4059"/>
              </a:lnSpc>
              <a:spcBef>
                <a:spcPct val="0"/>
              </a:spcBef>
            </a:pPr>
            <a:r>
              <a:rPr lang="en-US" sz="2899">
                <a:solidFill>
                  <a:srgbClr val="000000"/>
                </a:solidFill>
                <a:latin typeface="Noto Sans"/>
                <a:ea typeface="Noto Sans"/>
                <a:cs typeface="Noto Sans"/>
                <a:sym typeface="Noto Sans"/>
              </a:rPr>
              <a:t>PHP</a:t>
            </a:r>
          </a:p>
        </p:txBody>
      </p:sp>
      <p:sp>
        <p:nvSpPr>
          <p:cNvPr name="TextBox 21" id="21"/>
          <p:cNvSpPr txBox="true"/>
          <p:nvPr/>
        </p:nvSpPr>
        <p:spPr>
          <a:xfrm rot="0">
            <a:off x="10725281" y="3089353"/>
            <a:ext cx="5465288" cy="2077705"/>
          </a:xfrm>
          <a:prstGeom prst="rect">
            <a:avLst/>
          </a:prstGeom>
        </p:spPr>
        <p:txBody>
          <a:bodyPr anchor="t" rtlCol="false" tIns="0" lIns="0" bIns="0" rIns="0">
            <a:spAutoFit/>
          </a:bodyPr>
          <a:lstStyle/>
          <a:p>
            <a:pPr algn="l" marL="637029" indent="-318515" lvl="1">
              <a:lnSpc>
                <a:spcPts val="4130"/>
              </a:lnSpc>
              <a:buFont typeface="Arial"/>
              <a:buChar char="•"/>
            </a:pPr>
            <a:r>
              <a:rPr lang="en-US" sz="2950">
                <a:solidFill>
                  <a:srgbClr val="000000"/>
                </a:solidFill>
                <a:latin typeface="Noto Sans"/>
                <a:ea typeface="Noto Sans"/>
                <a:cs typeface="Noto Sans"/>
                <a:sym typeface="Noto Sans"/>
              </a:rPr>
              <a:t>Đăng nhập/Đăng Ký</a:t>
            </a:r>
          </a:p>
          <a:p>
            <a:pPr algn="l" marL="637029" indent="-318515" lvl="1">
              <a:lnSpc>
                <a:spcPts val="4130"/>
              </a:lnSpc>
              <a:buFont typeface="Arial"/>
              <a:buChar char="•"/>
            </a:pPr>
            <a:r>
              <a:rPr lang="en-US" sz="2950">
                <a:solidFill>
                  <a:srgbClr val="000000"/>
                </a:solidFill>
                <a:latin typeface="Noto Sans"/>
                <a:ea typeface="Noto Sans"/>
                <a:cs typeface="Noto Sans"/>
                <a:sym typeface="Noto Sans"/>
              </a:rPr>
              <a:t>Quản lý bạn bè</a:t>
            </a:r>
          </a:p>
          <a:p>
            <a:pPr algn="l" marL="637029" indent="-318515" lvl="1">
              <a:lnSpc>
                <a:spcPts val="4130"/>
              </a:lnSpc>
              <a:buFont typeface="Arial"/>
              <a:buChar char="•"/>
            </a:pPr>
            <a:r>
              <a:rPr lang="en-US" sz="2950">
                <a:solidFill>
                  <a:srgbClr val="000000"/>
                </a:solidFill>
                <a:latin typeface="Noto Sans"/>
                <a:ea typeface="Noto Sans"/>
                <a:cs typeface="Noto Sans"/>
                <a:sym typeface="Noto Sans"/>
              </a:rPr>
              <a:t>Bảng xếp hạng</a:t>
            </a:r>
          </a:p>
          <a:p>
            <a:pPr algn="l" marL="637029" indent="-318515" lvl="1">
              <a:lnSpc>
                <a:spcPts val="4130"/>
              </a:lnSpc>
              <a:buFont typeface="Arial"/>
              <a:buChar char="•"/>
            </a:pPr>
            <a:r>
              <a:rPr lang="en-US" sz="2950">
                <a:solidFill>
                  <a:srgbClr val="000000"/>
                </a:solidFill>
                <a:latin typeface="Noto Sans"/>
                <a:ea typeface="Noto Sans"/>
                <a:cs typeface="Noto Sans"/>
                <a:sym typeface="Noto Sans"/>
              </a:rPr>
              <a:t>Lịch sử trận đấu</a:t>
            </a:r>
          </a:p>
        </p:txBody>
      </p:sp>
      <p:sp>
        <p:nvSpPr>
          <p:cNvPr name="AutoShape 22" id="22"/>
          <p:cNvSpPr/>
          <p:nvPr/>
        </p:nvSpPr>
        <p:spPr>
          <a:xfrm>
            <a:off x="10543268" y="3127453"/>
            <a:ext cx="5984072" cy="0"/>
          </a:xfrm>
          <a:prstGeom prst="line">
            <a:avLst/>
          </a:prstGeom>
          <a:ln cap="flat" w="38100">
            <a:solidFill>
              <a:srgbClr val="000000"/>
            </a:solidFill>
            <a:prstDash val="solid"/>
            <a:headEnd type="none" len="sm" w="sm"/>
            <a:tailEnd type="none" len="sm" w="sm"/>
          </a:ln>
        </p:spPr>
      </p:sp>
      <p:sp>
        <p:nvSpPr>
          <p:cNvPr name="AutoShape 23" id="23"/>
          <p:cNvSpPr/>
          <p:nvPr/>
        </p:nvSpPr>
        <p:spPr>
          <a:xfrm>
            <a:off x="10543268" y="7063231"/>
            <a:ext cx="5829314" cy="0"/>
          </a:xfrm>
          <a:prstGeom prst="line">
            <a:avLst/>
          </a:prstGeom>
          <a:ln cap="flat" w="38100">
            <a:solidFill>
              <a:srgbClr val="000000"/>
            </a:solidFill>
            <a:prstDash val="solid"/>
            <a:headEnd type="none" len="sm" w="sm"/>
            <a:tailEnd type="none" len="sm" w="sm"/>
          </a:ln>
        </p:spPr>
      </p:sp>
      <p:sp>
        <p:nvSpPr>
          <p:cNvPr name="TextBox 24" id="24"/>
          <p:cNvSpPr txBox="true"/>
          <p:nvPr/>
        </p:nvSpPr>
        <p:spPr>
          <a:xfrm rot="0">
            <a:off x="10543268" y="6395226"/>
            <a:ext cx="5829314" cy="506080"/>
          </a:xfrm>
          <a:prstGeom prst="rect">
            <a:avLst/>
          </a:prstGeom>
        </p:spPr>
        <p:txBody>
          <a:bodyPr anchor="t" rtlCol="false" tIns="0" lIns="0" bIns="0" rIns="0">
            <a:spAutoFit/>
          </a:bodyPr>
          <a:lstStyle/>
          <a:p>
            <a:pPr algn="ctr">
              <a:lnSpc>
                <a:spcPts val="4130"/>
              </a:lnSpc>
              <a:spcBef>
                <a:spcPct val="0"/>
              </a:spcBef>
            </a:pPr>
            <a:r>
              <a:rPr lang="en-US" sz="2950">
                <a:solidFill>
                  <a:srgbClr val="000000"/>
                </a:solidFill>
                <a:latin typeface="Noto Sans"/>
                <a:ea typeface="Noto Sans"/>
                <a:cs typeface="Noto Sans"/>
                <a:sym typeface="Noto Sans"/>
              </a:rPr>
              <a:t>Node.js và Socket.io</a:t>
            </a:r>
          </a:p>
        </p:txBody>
      </p:sp>
      <p:sp>
        <p:nvSpPr>
          <p:cNvPr name="TextBox 25" id="25"/>
          <p:cNvSpPr txBox="true"/>
          <p:nvPr/>
        </p:nvSpPr>
        <p:spPr>
          <a:xfrm rot="0">
            <a:off x="10543268" y="7314380"/>
            <a:ext cx="5829314" cy="1553830"/>
          </a:xfrm>
          <a:prstGeom prst="rect">
            <a:avLst/>
          </a:prstGeom>
        </p:spPr>
        <p:txBody>
          <a:bodyPr anchor="t" rtlCol="false" tIns="0" lIns="0" bIns="0" rIns="0">
            <a:spAutoFit/>
          </a:bodyPr>
          <a:lstStyle/>
          <a:p>
            <a:pPr algn="l" marL="637029" indent="-318515" lvl="1">
              <a:lnSpc>
                <a:spcPts val="4130"/>
              </a:lnSpc>
              <a:buFont typeface="Arial"/>
              <a:buChar char="•"/>
            </a:pPr>
            <a:r>
              <a:rPr lang="en-US" sz="2950">
                <a:solidFill>
                  <a:srgbClr val="000000"/>
                </a:solidFill>
                <a:latin typeface="Noto Sans"/>
                <a:ea typeface="Noto Sans"/>
                <a:cs typeface="Noto Sans"/>
                <a:sym typeface="Noto Sans"/>
              </a:rPr>
              <a:t>Điều phối phòng theo thời gian thực</a:t>
            </a:r>
          </a:p>
          <a:p>
            <a:pPr algn="l" marL="637029" indent="-318515" lvl="1">
              <a:lnSpc>
                <a:spcPts val="4130"/>
              </a:lnSpc>
              <a:buFont typeface="Arial"/>
              <a:buChar char="•"/>
            </a:pPr>
            <a:r>
              <a:rPr lang="en-US" sz="2950">
                <a:solidFill>
                  <a:srgbClr val="000000"/>
                </a:solidFill>
                <a:latin typeface="Noto Sans"/>
                <a:ea typeface="Noto Sans"/>
                <a:cs typeface="Noto Sans"/>
                <a:sym typeface="Noto Sans"/>
              </a:rPr>
              <a:t>Ghép trận</a:t>
            </a:r>
          </a:p>
        </p:txBody>
      </p:sp>
      <p:sp>
        <p:nvSpPr>
          <p:cNvPr name="AutoShape 26" id="26"/>
          <p:cNvSpPr/>
          <p:nvPr/>
        </p:nvSpPr>
        <p:spPr>
          <a:xfrm>
            <a:off x="831407" y="5143500"/>
            <a:ext cx="4833630" cy="0"/>
          </a:xfrm>
          <a:prstGeom prst="line">
            <a:avLst/>
          </a:prstGeom>
          <a:ln cap="flat" w="38100">
            <a:solidFill>
              <a:srgbClr val="000000"/>
            </a:solidFill>
            <a:prstDash val="solid"/>
            <a:headEnd type="none" len="sm" w="sm"/>
            <a:tailEnd type="none" len="sm" w="sm"/>
          </a:ln>
        </p:spPr>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0" y="1429521"/>
            <a:ext cx="7495522"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 Cơ sở lý thuyết </a:t>
            </a:r>
          </a:p>
        </p:txBody>
      </p:sp>
      <p:grpSp>
        <p:nvGrpSpPr>
          <p:cNvPr name="Group 16" id="16"/>
          <p:cNvGrpSpPr/>
          <p:nvPr/>
        </p:nvGrpSpPr>
        <p:grpSpPr>
          <a:xfrm rot="0">
            <a:off x="3021553" y="3721885"/>
            <a:ext cx="12244894" cy="873831"/>
            <a:chOff x="0" y="0"/>
            <a:chExt cx="3224993" cy="230145"/>
          </a:xfrm>
        </p:grpSpPr>
        <p:sp>
          <p:nvSpPr>
            <p:cNvPr name="Freeform 17" id="17"/>
            <p:cNvSpPr/>
            <p:nvPr/>
          </p:nvSpPr>
          <p:spPr>
            <a:xfrm flipH="false" flipV="false" rot="0">
              <a:off x="0" y="0"/>
              <a:ext cx="3224993" cy="230145"/>
            </a:xfrm>
            <a:custGeom>
              <a:avLst/>
              <a:gdLst/>
              <a:ahLst/>
              <a:cxnLst/>
              <a:rect r="r" b="b" t="t" l="l"/>
              <a:pathLst>
                <a:path h="230145" w="3224993">
                  <a:moveTo>
                    <a:pt x="0" y="0"/>
                  </a:moveTo>
                  <a:lnTo>
                    <a:pt x="3224993" y="0"/>
                  </a:lnTo>
                  <a:lnTo>
                    <a:pt x="3224993" y="230145"/>
                  </a:lnTo>
                  <a:lnTo>
                    <a:pt x="0" y="230145"/>
                  </a:lnTo>
                  <a:close/>
                </a:path>
              </a:pathLst>
            </a:custGeom>
            <a:solidFill>
              <a:srgbClr val="8AB7E2"/>
            </a:solidFill>
          </p:spPr>
        </p:sp>
        <p:sp>
          <p:nvSpPr>
            <p:cNvPr name="TextBox 18" id="18"/>
            <p:cNvSpPr txBox="true"/>
            <p:nvPr/>
          </p:nvSpPr>
          <p:spPr>
            <a:xfrm>
              <a:off x="0" y="-38100"/>
              <a:ext cx="3224993" cy="26824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779465" y="3877185"/>
            <a:ext cx="10950298" cy="506080"/>
          </a:xfrm>
          <a:prstGeom prst="rect">
            <a:avLst/>
          </a:prstGeom>
        </p:spPr>
        <p:txBody>
          <a:bodyPr anchor="t" rtlCol="false" tIns="0" lIns="0" bIns="0" rIns="0">
            <a:spAutoFit/>
          </a:bodyPr>
          <a:lstStyle/>
          <a:p>
            <a:pPr algn="ctr">
              <a:lnSpc>
                <a:spcPts val="4130"/>
              </a:lnSpc>
              <a:spcBef>
                <a:spcPct val="0"/>
              </a:spcBef>
            </a:pPr>
            <a:r>
              <a:rPr lang="en-US" sz="2950">
                <a:solidFill>
                  <a:srgbClr val="000000"/>
                </a:solidFill>
                <a:latin typeface="Noto Sans"/>
                <a:ea typeface="Noto Sans"/>
                <a:cs typeface="Noto Sans"/>
                <a:sym typeface="Noto Sans"/>
              </a:rPr>
              <a:t>rnbqkbnr/pppppppp/8/8/8/8/PPPPPPPP/RNBQKBNR w KQkq 1</a:t>
            </a:r>
          </a:p>
        </p:txBody>
      </p:sp>
      <p:sp>
        <p:nvSpPr>
          <p:cNvPr name="TextBox 20" id="20"/>
          <p:cNvSpPr txBox="true"/>
          <p:nvPr/>
        </p:nvSpPr>
        <p:spPr>
          <a:xfrm rot="0">
            <a:off x="912854" y="2629678"/>
            <a:ext cx="3439478"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1. Chuẩn FEN </a:t>
            </a:r>
          </a:p>
        </p:txBody>
      </p:sp>
      <p:grpSp>
        <p:nvGrpSpPr>
          <p:cNvPr name="Group 21" id="21"/>
          <p:cNvGrpSpPr/>
          <p:nvPr/>
        </p:nvGrpSpPr>
        <p:grpSpPr>
          <a:xfrm rot="0">
            <a:off x="728921" y="5444441"/>
            <a:ext cx="3086100" cy="1515389"/>
            <a:chOff x="0" y="0"/>
            <a:chExt cx="812800" cy="399115"/>
          </a:xfrm>
        </p:grpSpPr>
        <p:sp>
          <p:nvSpPr>
            <p:cNvPr name="Freeform 22" id="22"/>
            <p:cNvSpPr/>
            <p:nvPr/>
          </p:nvSpPr>
          <p:spPr>
            <a:xfrm flipH="false" flipV="false" rot="0">
              <a:off x="0" y="0"/>
              <a:ext cx="812800" cy="399115"/>
            </a:xfrm>
            <a:custGeom>
              <a:avLst/>
              <a:gdLst/>
              <a:ahLst/>
              <a:cxnLst/>
              <a:rect r="r" b="b" t="t" l="l"/>
              <a:pathLst>
                <a:path h="399115" w="812800">
                  <a:moveTo>
                    <a:pt x="0" y="0"/>
                  </a:moveTo>
                  <a:lnTo>
                    <a:pt x="812800" y="0"/>
                  </a:lnTo>
                  <a:lnTo>
                    <a:pt x="812800" y="399115"/>
                  </a:lnTo>
                  <a:lnTo>
                    <a:pt x="0" y="399115"/>
                  </a:lnTo>
                  <a:close/>
                </a:path>
              </a:pathLst>
            </a:custGeom>
            <a:solidFill>
              <a:srgbClr val="8AB7E2"/>
            </a:solidFill>
          </p:spPr>
        </p:sp>
        <p:sp>
          <p:nvSpPr>
            <p:cNvPr name="TextBox 23" id="23"/>
            <p:cNvSpPr txBox="true"/>
            <p:nvPr/>
          </p:nvSpPr>
          <p:spPr>
            <a:xfrm>
              <a:off x="0" y="-38100"/>
              <a:ext cx="812800"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Các quân cờ đen ngoại trừ quân tốt đen</a:t>
              </a:r>
            </a:p>
          </p:txBody>
        </p:sp>
      </p:grpSp>
      <p:sp>
        <p:nvSpPr>
          <p:cNvPr name="AutoShape 24" id="24"/>
          <p:cNvSpPr/>
          <p:nvPr/>
        </p:nvSpPr>
        <p:spPr>
          <a:xfrm flipV="true">
            <a:off x="1711247" y="4595716"/>
            <a:ext cx="2449232" cy="848725"/>
          </a:xfrm>
          <a:prstGeom prst="line">
            <a:avLst/>
          </a:prstGeom>
          <a:ln cap="flat" w="38100">
            <a:solidFill>
              <a:srgbClr val="000000"/>
            </a:solidFill>
            <a:prstDash val="solid"/>
            <a:headEnd type="none" len="sm" w="sm"/>
            <a:tailEnd type="arrow" len="sm" w="med"/>
          </a:ln>
        </p:spPr>
      </p:sp>
      <p:grpSp>
        <p:nvGrpSpPr>
          <p:cNvPr name="Group 25" id="25"/>
          <p:cNvGrpSpPr/>
          <p:nvPr/>
        </p:nvGrpSpPr>
        <p:grpSpPr>
          <a:xfrm rot="0">
            <a:off x="4352332" y="5444441"/>
            <a:ext cx="2112702" cy="1515389"/>
            <a:chOff x="0" y="0"/>
            <a:chExt cx="556432" cy="399115"/>
          </a:xfrm>
        </p:grpSpPr>
        <p:sp>
          <p:nvSpPr>
            <p:cNvPr name="Freeform 26" id="26"/>
            <p:cNvSpPr/>
            <p:nvPr/>
          </p:nvSpPr>
          <p:spPr>
            <a:xfrm flipH="false" flipV="false" rot="0">
              <a:off x="0" y="0"/>
              <a:ext cx="556432" cy="399115"/>
            </a:xfrm>
            <a:custGeom>
              <a:avLst/>
              <a:gdLst/>
              <a:ahLst/>
              <a:cxnLst/>
              <a:rect r="r" b="b" t="t" l="l"/>
              <a:pathLst>
                <a:path h="399115" w="556432">
                  <a:moveTo>
                    <a:pt x="0" y="0"/>
                  </a:moveTo>
                  <a:lnTo>
                    <a:pt x="556432" y="0"/>
                  </a:lnTo>
                  <a:lnTo>
                    <a:pt x="556432" y="399115"/>
                  </a:lnTo>
                  <a:lnTo>
                    <a:pt x="0" y="399115"/>
                  </a:lnTo>
                  <a:close/>
                </a:path>
              </a:pathLst>
            </a:custGeom>
            <a:solidFill>
              <a:srgbClr val="8AB7E2"/>
            </a:solidFill>
          </p:spPr>
        </p:sp>
        <p:sp>
          <p:nvSpPr>
            <p:cNvPr name="TextBox 27" id="27"/>
            <p:cNvSpPr txBox="true"/>
            <p:nvPr/>
          </p:nvSpPr>
          <p:spPr>
            <a:xfrm>
              <a:off x="0" y="-38100"/>
              <a:ext cx="556432"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 8 quân tốt đen</a:t>
              </a:r>
            </a:p>
          </p:txBody>
        </p:sp>
      </p:grpSp>
      <p:sp>
        <p:nvSpPr>
          <p:cNvPr name="AutoShape 28" id="28"/>
          <p:cNvSpPr/>
          <p:nvPr/>
        </p:nvSpPr>
        <p:spPr>
          <a:xfrm flipV="true">
            <a:off x="5408683" y="4595716"/>
            <a:ext cx="508822" cy="848725"/>
          </a:xfrm>
          <a:prstGeom prst="line">
            <a:avLst/>
          </a:prstGeom>
          <a:ln cap="flat" w="38100">
            <a:solidFill>
              <a:srgbClr val="000000"/>
            </a:solidFill>
            <a:prstDash val="solid"/>
            <a:headEnd type="none" len="sm" w="sm"/>
            <a:tailEnd type="arrow" len="sm" w="med"/>
          </a:ln>
        </p:spPr>
      </p:sp>
      <p:grpSp>
        <p:nvGrpSpPr>
          <p:cNvPr name="Group 29" id="29"/>
          <p:cNvGrpSpPr/>
          <p:nvPr/>
        </p:nvGrpSpPr>
        <p:grpSpPr>
          <a:xfrm rot="0">
            <a:off x="6893659" y="5444441"/>
            <a:ext cx="2112702" cy="1515389"/>
            <a:chOff x="0" y="0"/>
            <a:chExt cx="556432" cy="399115"/>
          </a:xfrm>
        </p:grpSpPr>
        <p:sp>
          <p:nvSpPr>
            <p:cNvPr name="Freeform 30" id="30"/>
            <p:cNvSpPr/>
            <p:nvPr/>
          </p:nvSpPr>
          <p:spPr>
            <a:xfrm flipH="false" flipV="false" rot="0">
              <a:off x="0" y="0"/>
              <a:ext cx="556432" cy="399115"/>
            </a:xfrm>
            <a:custGeom>
              <a:avLst/>
              <a:gdLst/>
              <a:ahLst/>
              <a:cxnLst/>
              <a:rect r="r" b="b" t="t" l="l"/>
              <a:pathLst>
                <a:path h="399115" w="556432">
                  <a:moveTo>
                    <a:pt x="0" y="0"/>
                  </a:moveTo>
                  <a:lnTo>
                    <a:pt x="556432" y="0"/>
                  </a:lnTo>
                  <a:lnTo>
                    <a:pt x="556432" y="399115"/>
                  </a:lnTo>
                  <a:lnTo>
                    <a:pt x="0" y="399115"/>
                  </a:lnTo>
                  <a:close/>
                </a:path>
              </a:pathLst>
            </a:custGeom>
            <a:solidFill>
              <a:srgbClr val="8AB7E2"/>
            </a:solidFill>
          </p:spPr>
        </p:sp>
        <p:sp>
          <p:nvSpPr>
            <p:cNvPr name="TextBox 31" id="31"/>
            <p:cNvSpPr txBox="true"/>
            <p:nvPr/>
          </p:nvSpPr>
          <p:spPr>
            <a:xfrm>
              <a:off x="0" y="-38100"/>
              <a:ext cx="556432"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8 ô trống</a:t>
              </a:r>
            </a:p>
          </p:txBody>
        </p:sp>
      </p:grpSp>
      <p:sp>
        <p:nvSpPr>
          <p:cNvPr name="AutoShape 32" id="32"/>
          <p:cNvSpPr/>
          <p:nvPr/>
        </p:nvSpPr>
        <p:spPr>
          <a:xfrm flipV="true">
            <a:off x="7950009" y="4595716"/>
            <a:ext cx="71649" cy="848725"/>
          </a:xfrm>
          <a:prstGeom prst="line">
            <a:avLst/>
          </a:prstGeom>
          <a:ln cap="flat" w="38100">
            <a:solidFill>
              <a:srgbClr val="000000"/>
            </a:solidFill>
            <a:prstDash val="solid"/>
            <a:headEnd type="none" len="sm" w="sm"/>
            <a:tailEnd type="arrow" len="sm" w="med"/>
          </a:ln>
        </p:spPr>
      </p:sp>
      <p:grpSp>
        <p:nvGrpSpPr>
          <p:cNvPr name="Group 33" id="33"/>
          <p:cNvGrpSpPr/>
          <p:nvPr/>
        </p:nvGrpSpPr>
        <p:grpSpPr>
          <a:xfrm rot="0">
            <a:off x="9254613" y="5444441"/>
            <a:ext cx="2112702" cy="1515389"/>
            <a:chOff x="0" y="0"/>
            <a:chExt cx="556432" cy="399115"/>
          </a:xfrm>
        </p:grpSpPr>
        <p:sp>
          <p:nvSpPr>
            <p:cNvPr name="Freeform 34" id="34"/>
            <p:cNvSpPr/>
            <p:nvPr/>
          </p:nvSpPr>
          <p:spPr>
            <a:xfrm flipH="false" flipV="false" rot="0">
              <a:off x="0" y="0"/>
              <a:ext cx="556432" cy="399115"/>
            </a:xfrm>
            <a:custGeom>
              <a:avLst/>
              <a:gdLst/>
              <a:ahLst/>
              <a:cxnLst/>
              <a:rect r="r" b="b" t="t" l="l"/>
              <a:pathLst>
                <a:path h="399115" w="556432">
                  <a:moveTo>
                    <a:pt x="0" y="0"/>
                  </a:moveTo>
                  <a:lnTo>
                    <a:pt x="556432" y="0"/>
                  </a:lnTo>
                  <a:lnTo>
                    <a:pt x="556432" y="399115"/>
                  </a:lnTo>
                  <a:lnTo>
                    <a:pt x="0" y="399115"/>
                  </a:lnTo>
                  <a:close/>
                </a:path>
              </a:pathLst>
            </a:custGeom>
            <a:solidFill>
              <a:srgbClr val="8AB7E2"/>
            </a:solidFill>
          </p:spPr>
        </p:sp>
        <p:sp>
          <p:nvSpPr>
            <p:cNvPr name="TextBox 35" id="35"/>
            <p:cNvSpPr txBox="true"/>
            <p:nvPr/>
          </p:nvSpPr>
          <p:spPr>
            <a:xfrm>
              <a:off x="0" y="-38100"/>
              <a:ext cx="556432"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 8 quân tốt trắng</a:t>
              </a:r>
            </a:p>
          </p:txBody>
        </p:sp>
      </p:grpSp>
      <p:sp>
        <p:nvSpPr>
          <p:cNvPr name="AutoShape 36" id="36"/>
          <p:cNvSpPr/>
          <p:nvPr/>
        </p:nvSpPr>
        <p:spPr>
          <a:xfrm flipH="true" flipV="true">
            <a:off x="9974886" y="4595716"/>
            <a:ext cx="336078" cy="848725"/>
          </a:xfrm>
          <a:prstGeom prst="line">
            <a:avLst/>
          </a:prstGeom>
          <a:ln cap="flat" w="38100">
            <a:solidFill>
              <a:srgbClr val="000000"/>
            </a:solidFill>
            <a:prstDash val="solid"/>
            <a:headEnd type="none" len="sm" w="sm"/>
            <a:tailEnd type="arrow" len="sm" w="med"/>
          </a:ln>
        </p:spPr>
      </p:sp>
      <p:grpSp>
        <p:nvGrpSpPr>
          <p:cNvPr name="Group 37" id="37"/>
          <p:cNvGrpSpPr/>
          <p:nvPr/>
        </p:nvGrpSpPr>
        <p:grpSpPr>
          <a:xfrm rot="0">
            <a:off x="11795940" y="5444441"/>
            <a:ext cx="3086100" cy="1515389"/>
            <a:chOff x="0" y="0"/>
            <a:chExt cx="812800" cy="399115"/>
          </a:xfrm>
        </p:grpSpPr>
        <p:sp>
          <p:nvSpPr>
            <p:cNvPr name="Freeform 38" id="38"/>
            <p:cNvSpPr/>
            <p:nvPr/>
          </p:nvSpPr>
          <p:spPr>
            <a:xfrm flipH="false" flipV="false" rot="0">
              <a:off x="0" y="0"/>
              <a:ext cx="812800" cy="399115"/>
            </a:xfrm>
            <a:custGeom>
              <a:avLst/>
              <a:gdLst/>
              <a:ahLst/>
              <a:cxnLst/>
              <a:rect r="r" b="b" t="t" l="l"/>
              <a:pathLst>
                <a:path h="399115" w="812800">
                  <a:moveTo>
                    <a:pt x="0" y="0"/>
                  </a:moveTo>
                  <a:lnTo>
                    <a:pt x="812800" y="0"/>
                  </a:lnTo>
                  <a:lnTo>
                    <a:pt x="812800" y="399115"/>
                  </a:lnTo>
                  <a:lnTo>
                    <a:pt x="0" y="399115"/>
                  </a:lnTo>
                  <a:close/>
                </a:path>
              </a:pathLst>
            </a:custGeom>
            <a:solidFill>
              <a:srgbClr val="8AB7E2"/>
            </a:solidFill>
          </p:spPr>
        </p:sp>
        <p:sp>
          <p:nvSpPr>
            <p:cNvPr name="TextBox 39" id="39"/>
            <p:cNvSpPr txBox="true"/>
            <p:nvPr/>
          </p:nvSpPr>
          <p:spPr>
            <a:xfrm>
              <a:off x="0" y="-38100"/>
              <a:ext cx="812800"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Các quân cờ trắng ngoại trừ quân tốt trắng</a:t>
              </a:r>
            </a:p>
          </p:txBody>
        </p:sp>
      </p:grpSp>
      <p:sp>
        <p:nvSpPr>
          <p:cNvPr name="AutoShape 40" id="40"/>
          <p:cNvSpPr/>
          <p:nvPr/>
        </p:nvSpPr>
        <p:spPr>
          <a:xfrm>
            <a:off x="11561289" y="4595716"/>
            <a:ext cx="942604" cy="942604"/>
          </a:xfrm>
          <a:prstGeom prst="line">
            <a:avLst/>
          </a:prstGeom>
          <a:ln cap="flat" w="38100">
            <a:solidFill>
              <a:srgbClr val="000000"/>
            </a:solidFill>
            <a:prstDash val="solid"/>
            <a:headEnd type="arrow" len="sm" w="med"/>
            <a:tailEnd type="none" len="sm" w="sm"/>
          </a:ln>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0" y="1429521"/>
            <a:ext cx="7495522"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 Cơ sở lý thuyết </a:t>
            </a:r>
          </a:p>
        </p:txBody>
      </p:sp>
      <p:grpSp>
        <p:nvGrpSpPr>
          <p:cNvPr name="Group 16" id="16"/>
          <p:cNvGrpSpPr/>
          <p:nvPr/>
        </p:nvGrpSpPr>
        <p:grpSpPr>
          <a:xfrm rot="0">
            <a:off x="3021553" y="3721885"/>
            <a:ext cx="12244894" cy="873831"/>
            <a:chOff x="0" y="0"/>
            <a:chExt cx="3224993" cy="230145"/>
          </a:xfrm>
        </p:grpSpPr>
        <p:sp>
          <p:nvSpPr>
            <p:cNvPr name="Freeform 17" id="17"/>
            <p:cNvSpPr/>
            <p:nvPr/>
          </p:nvSpPr>
          <p:spPr>
            <a:xfrm flipH="false" flipV="false" rot="0">
              <a:off x="0" y="0"/>
              <a:ext cx="3224993" cy="230145"/>
            </a:xfrm>
            <a:custGeom>
              <a:avLst/>
              <a:gdLst/>
              <a:ahLst/>
              <a:cxnLst/>
              <a:rect r="r" b="b" t="t" l="l"/>
              <a:pathLst>
                <a:path h="230145" w="3224993">
                  <a:moveTo>
                    <a:pt x="0" y="0"/>
                  </a:moveTo>
                  <a:lnTo>
                    <a:pt x="3224993" y="0"/>
                  </a:lnTo>
                  <a:lnTo>
                    <a:pt x="3224993" y="230145"/>
                  </a:lnTo>
                  <a:lnTo>
                    <a:pt x="0" y="230145"/>
                  </a:lnTo>
                  <a:close/>
                </a:path>
              </a:pathLst>
            </a:custGeom>
            <a:solidFill>
              <a:srgbClr val="8AB7E2"/>
            </a:solidFill>
          </p:spPr>
        </p:sp>
        <p:sp>
          <p:nvSpPr>
            <p:cNvPr name="TextBox 18" id="18"/>
            <p:cNvSpPr txBox="true"/>
            <p:nvPr/>
          </p:nvSpPr>
          <p:spPr>
            <a:xfrm>
              <a:off x="0" y="-38100"/>
              <a:ext cx="3224993" cy="268245"/>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8380218" y="3877185"/>
            <a:ext cx="1748790" cy="506080"/>
          </a:xfrm>
          <a:prstGeom prst="rect">
            <a:avLst/>
          </a:prstGeom>
        </p:spPr>
        <p:txBody>
          <a:bodyPr anchor="t" rtlCol="false" tIns="0" lIns="0" bIns="0" rIns="0">
            <a:spAutoFit/>
          </a:bodyPr>
          <a:lstStyle/>
          <a:p>
            <a:pPr algn="ctr">
              <a:lnSpc>
                <a:spcPts val="4130"/>
              </a:lnSpc>
              <a:spcBef>
                <a:spcPct val="0"/>
              </a:spcBef>
            </a:pPr>
            <a:r>
              <a:rPr lang="en-US" sz="2950">
                <a:solidFill>
                  <a:srgbClr val="000000"/>
                </a:solidFill>
                <a:latin typeface="Noto Sans"/>
                <a:ea typeface="Noto Sans"/>
                <a:cs typeface="Noto Sans"/>
                <a:sym typeface="Noto Sans"/>
              </a:rPr>
              <a:t> w KQkq 1</a:t>
            </a:r>
          </a:p>
        </p:txBody>
      </p:sp>
      <p:sp>
        <p:nvSpPr>
          <p:cNvPr name="TextBox 20" id="20"/>
          <p:cNvSpPr txBox="true"/>
          <p:nvPr/>
        </p:nvSpPr>
        <p:spPr>
          <a:xfrm rot="0">
            <a:off x="912854" y="2629678"/>
            <a:ext cx="3439478"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1. Chuẩn FEN </a:t>
            </a:r>
          </a:p>
        </p:txBody>
      </p:sp>
      <p:grpSp>
        <p:nvGrpSpPr>
          <p:cNvPr name="Group 21" id="21"/>
          <p:cNvGrpSpPr/>
          <p:nvPr/>
        </p:nvGrpSpPr>
        <p:grpSpPr>
          <a:xfrm rot="0">
            <a:off x="4861154" y="5330053"/>
            <a:ext cx="2112702" cy="1515389"/>
            <a:chOff x="0" y="0"/>
            <a:chExt cx="556432" cy="399115"/>
          </a:xfrm>
        </p:grpSpPr>
        <p:sp>
          <p:nvSpPr>
            <p:cNvPr name="Freeform 22" id="22"/>
            <p:cNvSpPr/>
            <p:nvPr/>
          </p:nvSpPr>
          <p:spPr>
            <a:xfrm flipH="false" flipV="false" rot="0">
              <a:off x="0" y="0"/>
              <a:ext cx="556432" cy="399115"/>
            </a:xfrm>
            <a:custGeom>
              <a:avLst/>
              <a:gdLst/>
              <a:ahLst/>
              <a:cxnLst/>
              <a:rect r="r" b="b" t="t" l="l"/>
              <a:pathLst>
                <a:path h="399115" w="556432">
                  <a:moveTo>
                    <a:pt x="0" y="0"/>
                  </a:moveTo>
                  <a:lnTo>
                    <a:pt x="556432" y="0"/>
                  </a:lnTo>
                  <a:lnTo>
                    <a:pt x="556432" y="399115"/>
                  </a:lnTo>
                  <a:lnTo>
                    <a:pt x="0" y="399115"/>
                  </a:lnTo>
                  <a:close/>
                </a:path>
              </a:pathLst>
            </a:custGeom>
            <a:solidFill>
              <a:srgbClr val="8AB7E2"/>
            </a:solidFill>
          </p:spPr>
        </p:sp>
        <p:sp>
          <p:nvSpPr>
            <p:cNvPr name="TextBox 23" id="23"/>
            <p:cNvSpPr txBox="true"/>
            <p:nvPr/>
          </p:nvSpPr>
          <p:spPr>
            <a:xfrm>
              <a:off x="0" y="-38100"/>
              <a:ext cx="556432"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Lượt đi</a:t>
              </a:r>
            </a:p>
          </p:txBody>
        </p:sp>
      </p:grpSp>
      <p:grpSp>
        <p:nvGrpSpPr>
          <p:cNvPr name="Group 24" id="24"/>
          <p:cNvGrpSpPr/>
          <p:nvPr/>
        </p:nvGrpSpPr>
        <p:grpSpPr>
          <a:xfrm rot="0">
            <a:off x="8129349" y="5330053"/>
            <a:ext cx="2112702" cy="1515389"/>
            <a:chOff x="0" y="0"/>
            <a:chExt cx="556432" cy="399115"/>
          </a:xfrm>
        </p:grpSpPr>
        <p:sp>
          <p:nvSpPr>
            <p:cNvPr name="Freeform 25" id="25"/>
            <p:cNvSpPr/>
            <p:nvPr/>
          </p:nvSpPr>
          <p:spPr>
            <a:xfrm flipH="false" flipV="false" rot="0">
              <a:off x="0" y="0"/>
              <a:ext cx="556432" cy="399115"/>
            </a:xfrm>
            <a:custGeom>
              <a:avLst/>
              <a:gdLst/>
              <a:ahLst/>
              <a:cxnLst/>
              <a:rect r="r" b="b" t="t" l="l"/>
              <a:pathLst>
                <a:path h="399115" w="556432">
                  <a:moveTo>
                    <a:pt x="0" y="0"/>
                  </a:moveTo>
                  <a:lnTo>
                    <a:pt x="556432" y="0"/>
                  </a:lnTo>
                  <a:lnTo>
                    <a:pt x="556432" y="399115"/>
                  </a:lnTo>
                  <a:lnTo>
                    <a:pt x="0" y="399115"/>
                  </a:lnTo>
                  <a:close/>
                </a:path>
              </a:pathLst>
            </a:custGeom>
            <a:solidFill>
              <a:srgbClr val="8AB7E2"/>
            </a:solidFill>
          </p:spPr>
        </p:sp>
        <p:sp>
          <p:nvSpPr>
            <p:cNvPr name="TextBox 26" id="26"/>
            <p:cNvSpPr txBox="true"/>
            <p:nvPr/>
          </p:nvSpPr>
          <p:spPr>
            <a:xfrm>
              <a:off x="0" y="-38100"/>
              <a:ext cx="556432"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Nhập thành</a:t>
              </a:r>
            </a:p>
          </p:txBody>
        </p:sp>
      </p:grpSp>
      <p:sp>
        <p:nvSpPr>
          <p:cNvPr name="AutoShape 27" id="27"/>
          <p:cNvSpPr/>
          <p:nvPr/>
        </p:nvSpPr>
        <p:spPr>
          <a:xfrm flipV="true">
            <a:off x="5525212" y="4595716"/>
            <a:ext cx="2873906" cy="734337"/>
          </a:xfrm>
          <a:prstGeom prst="line">
            <a:avLst/>
          </a:prstGeom>
          <a:ln cap="flat" w="38100">
            <a:solidFill>
              <a:srgbClr val="000000"/>
            </a:solidFill>
            <a:prstDash val="solid"/>
            <a:headEnd type="none" len="sm" w="sm"/>
            <a:tailEnd type="arrow" len="sm" w="med"/>
          </a:ln>
        </p:spPr>
      </p:sp>
      <p:sp>
        <p:nvSpPr>
          <p:cNvPr name="AutoShape 28" id="28"/>
          <p:cNvSpPr/>
          <p:nvPr/>
        </p:nvSpPr>
        <p:spPr>
          <a:xfrm flipH="true" flipV="true">
            <a:off x="9144000" y="4595716"/>
            <a:ext cx="41700" cy="734337"/>
          </a:xfrm>
          <a:prstGeom prst="line">
            <a:avLst/>
          </a:prstGeom>
          <a:ln cap="flat" w="38100">
            <a:solidFill>
              <a:srgbClr val="000000"/>
            </a:solidFill>
            <a:prstDash val="solid"/>
            <a:headEnd type="none" len="sm" w="sm"/>
            <a:tailEnd type="arrow" len="sm" w="med"/>
          </a:ln>
        </p:spPr>
      </p:sp>
      <p:grpSp>
        <p:nvGrpSpPr>
          <p:cNvPr name="Group 29" id="29"/>
          <p:cNvGrpSpPr/>
          <p:nvPr/>
        </p:nvGrpSpPr>
        <p:grpSpPr>
          <a:xfrm rot="0">
            <a:off x="11120719" y="5330053"/>
            <a:ext cx="2112702" cy="1515389"/>
            <a:chOff x="0" y="0"/>
            <a:chExt cx="556432" cy="399115"/>
          </a:xfrm>
        </p:grpSpPr>
        <p:sp>
          <p:nvSpPr>
            <p:cNvPr name="Freeform 30" id="30"/>
            <p:cNvSpPr/>
            <p:nvPr/>
          </p:nvSpPr>
          <p:spPr>
            <a:xfrm flipH="false" flipV="false" rot="0">
              <a:off x="0" y="0"/>
              <a:ext cx="556432" cy="399115"/>
            </a:xfrm>
            <a:custGeom>
              <a:avLst/>
              <a:gdLst/>
              <a:ahLst/>
              <a:cxnLst/>
              <a:rect r="r" b="b" t="t" l="l"/>
              <a:pathLst>
                <a:path h="399115" w="556432">
                  <a:moveTo>
                    <a:pt x="0" y="0"/>
                  </a:moveTo>
                  <a:lnTo>
                    <a:pt x="556432" y="0"/>
                  </a:lnTo>
                  <a:lnTo>
                    <a:pt x="556432" y="399115"/>
                  </a:lnTo>
                  <a:lnTo>
                    <a:pt x="0" y="399115"/>
                  </a:lnTo>
                  <a:close/>
                </a:path>
              </a:pathLst>
            </a:custGeom>
            <a:solidFill>
              <a:srgbClr val="8AB7E2"/>
            </a:solidFill>
          </p:spPr>
        </p:sp>
        <p:sp>
          <p:nvSpPr>
            <p:cNvPr name="TextBox 31" id="31"/>
            <p:cNvSpPr txBox="true"/>
            <p:nvPr/>
          </p:nvSpPr>
          <p:spPr>
            <a:xfrm>
              <a:off x="0" y="-38100"/>
              <a:ext cx="556432" cy="437215"/>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Số thứ tự nước đi</a:t>
              </a:r>
            </a:p>
          </p:txBody>
        </p:sp>
      </p:grpSp>
      <p:sp>
        <p:nvSpPr>
          <p:cNvPr name="AutoShape 32" id="32"/>
          <p:cNvSpPr/>
          <p:nvPr/>
        </p:nvSpPr>
        <p:spPr>
          <a:xfrm>
            <a:off x="10034823" y="4595716"/>
            <a:ext cx="2142247" cy="734337"/>
          </a:xfrm>
          <a:prstGeom prst="line">
            <a:avLst/>
          </a:prstGeom>
          <a:ln cap="flat" w="38100">
            <a:solidFill>
              <a:srgbClr val="000000"/>
            </a:solidFill>
            <a:prstDash val="solid"/>
            <a:headEnd type="arrow" len="sm" w="med"/>
            <a:tailEnd type="none" len="sm" w="sm"/>
          </a:ln>
        </p:spPr>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4807208" y="3926020"/>
            <a:ext cx="8673584" cy="4041102"/>
          </a:xfrm>
          <a:custGeom>
            <a:avLst/>
            <a:gdLst/>
            <a:ahLst/>
            <a:cxnLst/>
            <a:rect r="r" b="b" t="t" l="l"/>
            <a:pathLst>
              <a:path h="4041102" w="8673584">
                <a:moveTo>
                  <a:pt x="0" y="0"/>
                </a:moveTo>
                <a:lnTo>
                  <a:pt x="8673584" y="0"/>
                </a:lnTo>
                <a:lnTo>
                  <a:pt x="8673584" y="4041102"/>
                </a:lnTo>
                <a:lnTo>
                  <a:pt x="0" y="4041102"/>
                </a:lnTo>
                <a:lnTo>
                  <a:pt x="0" y="0"/>
                </a:lnTo>
                <a:close/>
              </a:path>
            </a:pathLst>
          </a:custGeom>
          <a:blipFill>
            <a:blip r:embed="rId28"/>
            <a:stretch>
              <a:fillRect l="0" t="0" r="0" b="0"/>
            </a:stretch>
          </a:blipFill>
        </p:spPr>
      </p:sp>
      <p:sp>
        <p:nvSpPr>
          <p:cNvPr name="TextBox 16" id="16"/>
          <p:cNvSpPr txBox="true"/>
          <p:nvPr/>
        </p:nvSpPr>
        <p:spPr>
          <a:xfrm rot="0">
            <a:off x="-925232" y="1635900"/>
            <a:ext cx="9268864"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 Cơ sở lý thuyết </a:t>
            </a:r>
          </a:p>
        </p:txBody>
      </p:sp>
      <p:sp>
        <p:nvSpPr>
          <p:cNvPr name="TextBox 17" id="17"/>
          <p:cNvSpPr txBox="true"/>
          <p:nvPr/>
        </p:nvSpPr>
        <p:spPr>
          <a:xfrm rot="0">
            <a:off x="912854" y="2629678"/>
            <a:ext cx="6996112"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2. Tính điểm ELO và hệ số K </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0" y="1429521"/>
            <a:ext cx="7361523"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 Cơ sở lý thuyết</a:t>
            </a:r>
          </a:p>
        </p:txBody>
      </p:sp>
      <p:sp>
        <p:nvSpPr>
          <p:cNvPr name="TextBox 16" id="16"/>
          <p:cNvSpPr txBox="true"/>
          <p:nvPr/>
        </p:nvSpPr>
        <p:spPr>
          <a:xfrm rot="0">
            <a:off x="912854" y="2629678"/>
            <a:ext cx="6996112"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2. Tính điểm ELO và hệ số K </a:t>
            </a:r>
          </a:p>
        </p:txBody>
      </p:sp>
      <p:sp>
        <p:nvSpPr>
          <p:cNvPr name="Freeform 17" id="17"/>
          <p:cNvSpPr/>
          <p:nvPr/>
        </p:nvSpPr>
        <p:spPr>
          <a:xfrm flipH="false" flipV="false" rot="0">
            <a:off x="4136549" y="3718703"/>
            <a:ext cx="9456495" cy="1503785"/>
          </a:xfrm>
          <a:custGeom>
            <a:avLst/>
            <a:gdLst/>
            <a:ahLst/>
            <a:cxnLst/>
            <a:rect r="r" b="b" t="t" l="l"/>
            <a:pathLst>
              <a:path h="1503785" w="9456495">
                <a:moveTo>
                  <a:pt x="0" y="0"/>
                </a:moveTo>
                <a:lnTo>
                  <a:pt x="9456496" y="0"/>
                </a:lnTo>
                <a:lnTo>
                  <a:pt x="9456496" y="1503785"/>
                </a:lnTo>
                <a:lnTo>
                  <a:pt x="0" y="1503785"/>
                </a:lnTo>
                <a:lnTo>
                  <a:pt x="0" y="0"/>
                </a:lnTo>
                <a:close/>
              </a:path>
            </a:pathLst>
          </a:custGeom>
          <a:blipFill>
            <a:blip r:embed="rId28"/>
            <a:stretch>
              <a:fillRect l="0" t="0" r="0" b="0"/>
            </a:stretch>
          </a:blipFill>
        </p:spPr>
      </p:sp>
      <p:grpSp>
        <p:nvGrpSpPr>
          <p:cNvPr name="Group 18" id="18"/>
          <p:cNvGrpSpPr/>
          <p:nvPr/>
        </p:nvGrpSpPr>
        <p:grpSpPr>
          <a:xfrm rot="0">
            <a:off x="817735" y="5801519"/>
            <a:ext cx="3086100" cy="1117180"/>
            <a:chOff x="0" y="0"/>
            <a:chExt cx="812800" cy="294237"/>
          </a:xfrm>
        </p:grpSpPr>
        <p:sp>
          <p:nvSpPr>
            <p:cNvPr name="Freeform 19" id="19"/>
            <p:cNvSpPr/>
            <p:nvPr/>
          </p:nvSpPr>
          <p:spPr>
            <a:xfrm flipH="false" flipV="false" rot="0">
              <a:off x="0" y="0"/>
              <a:ext cx="812800" cy="294237"/>
            </a:xfrm>
            <a:custGeom>
              <a:avLst/>
              <a:gdLst/>
              <a:ahLst/>
              <a:cxnLst/>
              <a:rect r="r" b="b" t="t" l="l"/>
              <a:pathLst>
                <a:path h="294237" w="812800">
                  <a:moveTo>
                    <a:pt x="0" y="0"/>
                  </a:moveTo>
                  <a:lnTo>
                    <a:pt x="812800" y="0"/>
                  </a:lnTo>
                  <a:lnTo>
                    <a:pt x="812800" y="294237"/>
                  </a:lnTo>
                  <a:lnTo>
                    <a:pt x="0" y="294237"/>
                  </a:lnTo>
                  <a:close/>
                </a:path>
              </a:pathLst>
            </a:custGeom>
            <a:solidFill>
              <a:srgbClr val="8AB7E2"/>
            </a:solidFill>
          </p:spPr>
        </p:sp>
        <p:sp>
          <p:nvSpPr>
            <p:cNvPr name="TextBox 20" id="20"/>
            <p:cNvSpPr txBox="true"/>
            <p:nvPr/>
          </p:nvSpPr>
          <p:spPr>
            <a:xfrm>
              <a:off x="0" y="-38100"/>
              <a:ext cx="812800" cy="332337"/>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ELO &lt; 1600</a:t>
              </a:r>
            </a:p>
          </p:txBody>
        </p:sp>
      </p:grpSp>
      <p:grpSp>
        <p:nvGrpSpPr>
          <p:cNvPr name="Group 21" id="21"/>
          <p:cNvGrpSpPr/>
          <p:nvPr/>
        </p:nvGrpSpPr>
        <p:grpSpPr>
          <a:xfrm rot="5400000">
            <a:off x="4449198" y="5925037"/>
            <a:ext cx="870146" cy="87014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8AB7E2"/>
            </a:solidFill>
          </p:spPr>
        </p:sp>
        <p:sp>
          <p:nvSpPr>
            <p:cNvPr name="TextBox 23" id="23"/>
            <p:cNvSpPr txBox="true"/>
            <p:nvPr/>
          </p:nvSpPr>
          <p:spPr>
            <a:xfrm>
              <a:off x="203200" y="63500"/>
              <a:ext cx="406400" cy="749300"/>
            </a:xfrm>
            <a:prstGeom prst="rect">
              <a:avLst/>
            </a:prstGeom>
          </p:spPr>
          <p:txBody>
            <a:bodyPr anchor="ctr" rtlCol="false" tIns="50800" lIns="50800" bIns="50800" rIns="50800"/>
            <a:lstStyle/>
            <a:p>
              <a:pPr algn="ctr">
                <a:lnSpc>
                  <a:spcPts val="3079"/>
                </a:lnSpc>
              </a:pPr>
            </a:p>
          </p:txBody>
        </p:sp>
      </p:grpSp>
      <p:grpSp>
        <p:nvGrpSpPr>
          <p:cNvPr name="Group 24" id="24"/>
          <p:cNvGrpSpPr/>
          <p:nvPr/>
        </p:nvGrpSpPr>
        <p:grpSpPr>
          <a:xfrm rot="0">
            <a:off x="5818473" y="5795015"/>
            <a:ext cx="3086100" cy="1117180"/>
            <a:chOff x="0" y="0"/>
            <a:chExt cx="812800" cy="294237"/>
          </a:xfrm>
        </p:grpSpPr>
        <p:sp>
          <p:nvSpPr>
            <p:cNvPr name="Freeform 25" id="25"/>
            <p:cNvSpPr/>
            <p:nvPr/>
          </p:nvSpPr>
          <p:spPr>
            <a:xfrm flipH="false" flipV="false" rot="0">
              <a:off x="0" y="0"/>
              <a:ext cx="812800" cy="294237"/>
            </a:xfrm>
            <a:custGeom>
              <a:avLst/>
              <a:gdLst/>
              <a:ahLst/>
              <a:cxnLst/>
              <a:rect r="r" b="b" t="t" l="l"/>
              <a:pathLst>
                <a:path h="294237" w="812800">
                  <a:moveTo>
                    <a:pt x="0" y="0"/>
                  </a:moveTo>
                  <a:lnTo>
                    <a:pt x="812800" y="0"/>
                  </a:lnTo>
                  <a:lnTo>
                    <a:pt x="812800" y="294237"/>
                  </a:lnTo>
                  <a:lnTo>
                    <a:pt x="0" y="294237"/>
                  </a:lnTo>
                  <a:close/>
                </a:path>
              </a:pathLst>
            </a:custGeom>
            <a:solidFill>
              <a:srgbClr val="8AB7E2"/>
            </a:solidFill>
          </p:spPr>
        </p:sp>
        <p:sp>
          <p:nvSpPr>
            <p:cNvPr name="TextBox 26" id="26"/>
            <p:cNvSpPr txBox="true"/>
            <p:nvPr/>
          </p:nvSpPr>
          <p:spPr>
            <a:xfrm>
              <a:off x="0" y="-38100"/>
              <a:ext cx="812800" cy="332337"/>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K = 32</a:t>
              </a:r>
            </a:p>
          </p:txBody>
        </p:sp>
      </p:grpSp>
      <p:grpSp>
        <p:nvGrpSpPr>
          <p:cNvPr name="Group 27" id="27"/>
          <p:cNvGrpSpPr/>
          <p:nvPr/>
        </p:nvGrpSpPr>
        <p:grpSpPr>
          <a:xfrm rot="0">
            <a:off x="817735" y="7328275"/>
            <a:ext cx="3086100" cy="1117180"/>
            <a:chOff x="0" y="0"/>
            <a:chExt cx="812800" cy="294237"/>
          </a:xfrm>
        </p:grpSpPr>
        <p:sp>
          <p:nvSpPr>
            <p:cNvPr name="Freeform 28" id="28"/>
            <p:cNvSpPr/>
            <p:nvPr/>
          </p:nvSpPr>
          <p:spPr>
            <a:xfrm flipH="false" flipV="false" rot="0">
              <a:off x="0" y="0"/>
              <a:ext cx="812800" cy="294237"/>
            </a:xfrm>
            <a:custGeom>
              <a:avLst/>
              <a:gdLst/>
              <a:ahLst/>
              <a:cxnLst/>
              <a:rect r="r" b="b" t="t" l="l"/>
              <a:pathLst>
                <a:path h="294237" w="812800">
                  <a:moveTo>
                    <a:pt x="0" y="0"/>
                  </a:moveTo>
                  <a:lnTo>
                    <a:pt x="812800" y="0"/>
                  </a:lnTo>
                  <a:lnTo>
                    <a:pt x="812800" y="294237"/>
                  </a:lnTo>
                  <a:lnTo>
                    <a:pt x="0" y="294237"/>
                  </a:lnTo>
                  <a:close/>
                </a:path>
              </a:pathLst>
            </a:custGeom>
            <a:solidFill>
              <a:srgbClr val="8AB7E2"/>
            </a:solidFill>
          </p:spPr>
        </p:sp>
        <p:sp>
          <p:nvSpPr>
            <p:cNvPr name="TextBox 29" id="29"/>
            <p:cNvSpPr txBox="true"/>
            <p:nvPr/>
          </p:nvSpPr>
          <p:spPr>
            <a:xfrm>
              <a:off x="0" y="-38100"/>
              <a:ext cx="812800" cy="332337"/>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1600 &lt;= Elo &lt; 2400</a:t>
              </a:r>
            </a:p>
          </p:txBody>
        </p:sp>
      </p:grpSp>
      <p:grpSp>
        <p:nvGrpSpPr>
          <p:cNvPr name="Group 30" id="30"/>
          <p:cNvGrpSpPr/>
          <p:nvPr/>
        </p:nvGrpSpPr>
        <p:grpSpPr>
          <a:xfrm rot="5400000">
            <a:off x="4449198" y="7451792"/>
            <a:ext cx="870146" cy="87014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8AB7E2"/>
            </a:solidFill>
          </p:spPr>
        </p:sp>
        <p:sp>
          <p:nvSpPr>
            <p:cNvPr name="TextBox 32" id="32"/>
            <p:cNvSpPr txBox="true"/>
            <p:nvPr/>
          </p:nvSpPr>
          <p:spPr>
            <a:xfrm>
              <a:off x="203200" y="63500"/>
              <a:ext cx="406400" cy="749300"/>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5818473" y="7328275"/>
            <a:ext cx="3086100" cy="1117180"/>
            <a:chOff x="0" y="0"/>
            <a:chExt cx="812800" cy="294237"/>
          </a:xfrm>
        </p:grpSpPr>
        <p:sp>
          <p:nvSpPr>
            <p:cNvPr name="Freeform 34" id="34"/>
            <p:cNvSpPr/>
            <p:nvPr/>
          </p:nvSpPr>
          <p:spPr>
            <a:xfrm flipH="false" flipV="false" rot="0">
              <a:off x="0" y="0"/>
              <a:ext cx="812800" cy="294237"/>
            </a:xfrm>
            <a:custGeom>
              <a:avLst/>
              <a:gdLst/>
              <a:ahLst/>
              <a:cxnLst/>
              <a:rect r="r" b="b" t="t" l="l"/>
              <a:pathLst>
                <a:path h="294237" w="812800">
                  <a:moveTo>
                    <a:pt x="0" y="0"/>
                  </a:moveTo>
                  <a:lnTo>
                    <a:pt x="812800" y="0"/>
                  </a:lnTo>
                  <a:lnTo>
                    <a:pt x="812800" y="294237"/>
                  </a:lnTo>
                  <a:lnTo>
                    <a:pt x="0" y="294237"/>
                  </a:lnTo>
                  <a:close/>
                </a:path>
              </a:pathLst>
            </a:custGeom>
            <a:solidFill>
              <a:srgbClr val="8AB7E2"/>
            </a:solidFill>
          </p:spPr>
        </p:sp>
        <p:sp>
          <p:nvSpPr>
            <p:cNvPr name="TextBox 35" id="35"/>
            <p:cNvSpPr txBox="true"/>
            <p:nvPr/>
          </p:nvSpPr>
          <p:spPr>
            <a:xfrm>
              <a:off x="0" y="-38100"/>
              <a:ext cx="812800" cy="332337"/>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K = 24</a:t>
              </a:r>
            </a:p>
          </p:txBody>
        </p:sp>
      </p:grpSp>
      <p:grpSp>
        <p:nvGrpSpPr>
          <p:cNvPr name="Group 36" id="36"/>
          <p:cNvGrpSpPr/>
          <p:nvPr/>
        </p:nvGrpSpPr>
        <p:grpSpPr>
          <a:xfrm rot="0">
            <a:off x="9399873" y="6430911"/>
            <a:ext cx="3086100" cy="1117180"/>
            <a:chOff x="0" y="0"/>
            <a:chExt cx="812800" cy="294237"/>
          </a:xfrm>
        </p:grpSpPr>
        <p:sp>
          <p:nvSpPr>
            <p:cNvPr name="Freeform 37" id="37"/>
            <p:cNvSpPr/>
            <p:nvPr/>
          </p:nvSpPr>
          <p:spPr>
            <a:xfrm flipH="false" flipV="false" rot="0">
              <a:off x="0" y="0"/>
              <a:ext cx="812800" cy="294237"/>
            </a:xfrm>
            <a:custGeom>
              <a:avLst/>
              <a:gdLst/>
              <a:ahLst/>
              <a:cxnLst/>
              <a:rect r="r" b="b" t="t" l="l"/>
              <a:pathLst>
                <a:path h="294237" w="812800">
                  <a:moveTo>
                    <a:pt x="0" y="0"/>
                  </a:moveTo>
                  <a:lnTo>
                    <a:pt x="812800" y="0"/>
                  </a:lnTo>
                  <a:lnTo>
                    <a:pt x="812800" y="294237"/>
                  </a:lnTo>
                  <a:lnTo>
                    <a:pt x="0" y="294237"/>
                  </a:lnTo>
                  <a:close/>
                </a:path>
              </a:pathLst>
            </a:custGeom>
            <a:solidFill>
              <a:srgbClr val="8AB7E2"/>
            </a:solidFill>
          </p:spPr>
        </p:sp>
        <p:sp>
          <p:nvSpPr>
            <p:cNvPr name="TextBox 38" id="38"/>
            <p:cNvSpPr txBox="true"/>
            <p:nvPr/>
          </p:nvSpPr>
          <p:spPr>
            <a:xfrm>
              <a:off x="0" y="-38100"/>
              <a:ext cx="812800" cy="332337"/>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 Elo &gt;= 2400</a:t>
              </a:r>
            </a:p>
          </p:txBody>
        </p:sp>
      </p:grpSp>
      <p:grpSp>
        <p:nvGrpSpPr>
          <p:cNvPr name="Group 39" id="39"/>
          <p:cNvGrpSpPr/>
          <p:nvPr/>
        </p:nvGrpSpPr>
        <p:grpSpPr>
          <a:xfrm rot="5400000">
            <a:off x="13031336" y="6554429"/>
            <a:ext cx="870146" cy="87014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8AB7E2"/>
            </a:solidFill>
          </p:spPr>
        </p:sp>
        <p:sp>
          <p:nvSpPr>
            <p:cNvPr name="TextBox 41" id="41"/>
            <p:cNvSpPr txBox="true"/>
            <p:nvPr/>
          </p:nvSpPr>
          <p:spPr>
            <a:xfrm>
              <a:off x="203200" y="63500"/>
              <a:ext cx="406400" cy="749300"/>
            </a:xfrm>
            <a:prstGeom prst="rect">
              <a:avLst/>
            </a:prstGeom>
          </p:spPr>
          <p:txBody>
            <a:bodyPr anchor="ctr" rtlCol="false" tIns="50800" lIns="50800" bIns="50800" rIns="50800"/>
            <a:lstStyle/>
            <a:p>
              <a:pPr algn="ctr">
                <a:lnSpc>
                  <a:spcPts val="3079"/>
                </a:lnSpc>
              </a:pPr>
            </a:p>
          </p:txBody>
        </p:sp>
      </p:grpSp>
      <p:grpSp>
        <p:nvGrpSpPr>
          <p:cNvPr name="Group 42" id="42"/>
          <p:cNvGrpSpPr/>
          <p:nvPr/>
        </p:nvGrpSpPr>
        <p:grpSpPr>
          <a:xfrm rot="0">
            <a:off x="14400611" y="6430911"/>
            <a:ext cx="3086100" cy="1117180"/>
            <a:chOff x="0" y="0"/>
            <a:chExt cx="812800" cy="294237"/>
          </a:xfrm>
        </p:grpSpPr>
        <p:sp>
          <p:nvSpPr>
            <p:cNvPr name="Freeform 43" id="43"/>
            <p:cNvSpPr/>
            <p:nvPr/>
          </p:nvSpPr>
          <p:spPr>
            <a:xfrm flipH="false" flipV="false" rot="0">
              <a:off x="0" y="0"/>
              <a:ext cx="812800" cy="294237"/>
            </a:xfrm>
            <a:custGeom>
              <a:avLst/>
              <a:gdLst/>
              <a:ahLst/>
              <a:cxnLst/>
              <a:rect r="r" b="b" t="t" l="l"/>
              <a:pathLst>
                <a:path h="294237" w="812800">
                  <a:moveTo>
                    <a:pt x="0" y="0"/>
                  </a:moveTo>
                  <a:lnTo>
                    <a:pt x="812800" y="0"/>
                  </a:lnTo>
                  <a:lnTo>
                    <a:pt x="812800" y="294237"/>
                  </a:lnTo>
                  <a:lnTo>
                    <a:pt x="0" y="294237"/>
                  </a:lnTo>
                  <a:close/>
                </a:path>
              </a:pathLst>
            </a:custGeom>
            <a:solidFill>
              <a:srgbClr val="8AB7E2"/>
            </a:solidFill>
          </p:spPr>
        </p:sp>
        <p:sp>
          <p:nvSpPr>
            <p:cNvPr name="TextBox 44" id="44"/>
            <p:cNvSpPr txBox="true"/>
            <p:nvPr/>
          </p:nvSpPr>
          <p:spPr>
            <a:xfrm>
              <a:off x="0" y="-38100"/>
              <a:ext cx="812800" cy="332337"/>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K = 16</a:t>
              </a:r>
            </a:p>
          </p:txBody>
        </p:sp>
      </p:gr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6773028" y="2516101"/>
            <a:ext cx="8938526" cy="6401597"/>
          </a:xfrm>
          <a:custGeom>
            <a:avLst/>
            <a:gdLst/>
            <a:ahLst/>
            <a:cxnLst/>
            <a:rect r="r" b="b" t="t" l="l"/>
            <a:pathLst>
              <a:path h="6401597" w="8938526">
                <a:moveTo>
                  <a:pt x="0" y="0"/>
                </a:moveTo>
                <a:lnTo>
                  <a:pt x="8938527" y="0"/>
                </a:lnTo>
                <a:lnTo>
                  <a:pt x="8938527" y="6401598"/>
                </a:lnTo>
                <a:lnTo>
                  <a:pt x="0" y="6401598"/>
                </a:lnTo>
                <a:lnTo>
                  <a:pt x="0" y="0"/>
                </a:lnTo>
                <a:close/>
              </a:path>
            </a:pathLst>
          </a:custGeom>
          <a:blipFill>
            <a:blip r:embed="rId28"/>
            <a:stretch>
              <a:fillRect l="0" t="0" r="0" b="0"/>
            </a:stretch>
          </a:blipFill>
        </p:spPr>
      </p:sp>
      <p:sp>
        <p:nvSpPr>
          <p:cNvPr name="TextBox 16" id="16"/>
          <p:cNvSpPr txBox="true"/>
          <p:nvPr/>
        </p:nvSpPr>
        <p:spPr>
          <a:xfrm rot="0">
            <a:off x="912854" y="1468475"/>
            <a:ext cx="7361523"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III. Phân tích hệ thống</a:t>
            </a:r>
          </a:p>
        </p:txBody>
      </p:sp>
      <p:sp>
        <p:nvSpPr>
          <p:cNvPr name="TextBox 17" id="17"/>
          <p:cNvSpPr txBox="true"/>
          <p:nvPr/>
        </p:nvSpPr>
        <p:spPr>
          <a:xfrm rot="0">
            <a:off x="912854" y="2629678"/>
            <a:ext cx="3880604"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1. Cơ sở dữ liệu</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0" y="1429521"/>
            <a:ext cx="7361523"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III. Phân tích hệ thống</a:t>
            </a:r>
          </a:p>
        </p:txBody>
      </p:sp>
      <p:sp>
        <p:nvSpPr>
          <p:cNvPr name="TextBox 16" id="16"/>
          <p:cNvSpPr txBox="true"/>
          <p:nvPr/>
        </p:nvSpPr>
        <p:spPr>
          <a:xfrm rot="0">
            <a:off x="912854" y="2629678"/>
            <a:ext cx="7201614"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2. Phân tích luồng (Tìm trận)</a:t>
            </a:r>
          </a:p>
        </p:txBody>
      </p:sp>
      <p:grpSp>
        <p:nvGrpSpPr>
          <p:cNvPr name="Group 17" id="17"/>
          <p:cNvGrpSpPr/>
          <p:nvPr/>
        </p:nvGrpSpPr>
        <p:grpSpPr>
          <a:xfrm rot="0">
            <a:off x="2071469" y="4294833"/>
            <a:ext cx="3086100" cy="30861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AB7E2"/>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Client A và B gửi sự kiện “find-match”</a:t>
              </a:r>
            </a:p>
          </p:txBody>
        </p:sp>
      </p:grpSp>
      <p:sp>
        <p:nvSpPr>
          <p:cNvPr name="TextBox 20" id="20"/>
          <p:cNvSpPr txBox="true"/>
          <p:nvPr/>
        </p:nvSpPr>
        <p:spPr>
          <a:xfrm rot="0">
            <a:off x="2071469" y="4237683"/>
            <a:ext cx="3086100" cy="481331"/>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Noto Sans"/>
                <a:ea typeface="Noto Sans"/>
                <a:cs typeface="Noto Sans"/>
                <a:sym typeface="Noto Sans"/>
              </a:rPr>
              <a:t>Phát tín hiệu</a:t>
            </a:r>
          </a:p>
        </p:txBody>
      </p:sp>
      <p:grpSp>
        <p:nvGrpSpPr>
          <p:cNvPr name="Group 21" id="21"/>
          <p:cNvGrpSpPr/>
          <p:nvPr/>
        </p:nvGrpSpPr>
        <p:grpSpPr>
          <a:xfrm rot="0">
            <a:off x="6057900" y="4294833"/>
            <a:ext cx="3086100" cy="308610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AB7E2"/>
            </a:solidFill>
          </p:spPr>
        </p:sp>
        <p:sp>
          <p:nvSpPr>
            <p:cNvPr name="TextBox 23" id="23"/>
            <p:cNvSpPr txBox="true"/>
            <p:nvPr/>
          </p:nvSpPr>
          <p:spPr>
            <a:xfrm>
              <a:off x="0" y="-38100"/>
              <a:ext cx="812800" cy="85090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Server.js hứng và nạp mảng “waitingPlayers” vào Ram</a:t>
              </a:r>
            </a:p>
          </p:txBody>
        </p:sp>
      </p:grpSp>
      <p:sp>
        <p:nvSpPr>
          <p:cNvPr name="TextBox 24" id="24"/>
          <p:cNvSpPr txBox="true"/>
          <p:nvPr/>
        </p:nvSpPr>
        <p:spPr>
          <a:xfrm rot="0">
            <a:off x="6057900" y="4237683"/>
            <a:ext cx="3086100" cy="481331"/>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Noto Sans"/>
                <a:ea typeface="Noto Sans"/>
                <a:cs typeface="Noto Sans"/>
                <a:sym typeface="Noto Sans"/>
              </a:rPr>
              <a:t>Ram</a:t>
            </a:r>
          </a:p>
        </p:txBody>
      </p:sp>
      <p:grpSp>
        <p:nvGrpSpPr>
          <p:cNvPr name="Group 25" id="25"/>
          <p:cNvGrpSpPr/>
          <p:nvPr/>
        </p:nvGrpSpPr>
        <p:grpSpPr>
          <a:xfrm rot="0">
            <a:off x="10002096" y="4294833"/>
            <a:ext cx="3086100" cy="308610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AB7E2"/>
            </a:solidFill>
          </p:spPr>
        </p:sp>
        <p:sp>
          <p:nvSpPr>
            <p:cNvPr name="TextBox 27" id="27"/>
            <p:cNvSpPr txBox="true"/>
            <p:nvPr/>
          </p:nvSpPr>
          <p:spPr>
            <a:xfrm>
              <a:off x="0" y="-38100"/>
              <a:ext cx="812800" cy="85090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Nếu length &gt;= 2</a:t>
              </a:r>
            </a:p>
          </p:txBody>
        </p:sp>
      </p:grpSp>
      <p:sp>
        <p:nvSpPr>
          <p:cNvPr name="TextBox 28" id="28"/>
          <p:cNvSpPr txBox="true"/>
          <p:nvPr/>
        </p:nvSpPr>
        <p:spPr>
          <a:xfrm rot="0">
            <a:off x="10002096" y="4237683"/>
            <a:ext cx="3086100" cy="481331"/>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Noto Sans"/>
                <a:ea typeface="Noto Sans"/>
                <a:cs typeface="Noto Sans"/>
                <a:sym typeface="Noto Sans"/>
              </a:rPr>
              <a:t>Bắt cặp</a:t>
            </a:r>
          </a:p>
        </p:txBody>
      </p:sp>
      <p:grpSp>
        <p:nvGrpSpPr>
          <p:cNvPr name="Group 29" id="29"/>
          <p:cNvGrpSpPr/>
          <p:nvPr/>
        </p:nvGrpSpPr>
        <p:grpSpPr>
          <a:xfrm rot="0">
            <a:off x="13946292" y="4294833"/>
            <a:ext cx="3086100" cy="308610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AB7E2"/>
            </a:solidFill>
          </p:spPr>
        </p:sp>
        <p:sp>
          <p:nvSpPr>
            <p:cNvPr name="TextBox 31" id="31"/>
            <p:cNvSpPr txBox="true"/>
            <p:nvPr/>
          </p:nvSpPr>
          <p:spPr>
            <a:xfrm>
              <a:off x="0" y="-38100"/>
              <a:ext cx="812800" cy="85090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Sinh ra ID trận đấu, đẩy 2 client vào phòng</a:t>
              </a:r>
            </a:p>
          </p:txBody>
        </p:sp>
      </p:grpSp>
      <p:sp>
        <p:nvSpPr>
          <p:cNvPr name="TextBox 32" id="32"/>
          <p:cNvSpPr txBox="true"/>
          <p:nvPr/>
        </p:nvSpPr>
        <p:spPr>
          <a:xfrm rot="0">
            <a:off x="13946292" y="4282451"/>
            <a:ext cx="3086100" cy="481331"/>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Noto Sans"/>
                <a:ea typeface="Noto Sans"/>
                <a:cs typeface="Noto Sans"/>
                <a:sym typeface="Noto Sans"/>
              </a:rPr>
              <a:t>Khởi tạo trận đấu</a:t>
            </a:r>
          </a:p>
        </p:txBody>
      </p:sp>
      <p:grpSp>
        <p:nvGrpSpPr>
          <p:cNvPr name="Group 33" id="33"/>
          <p:cNvGrpSpPr/>
          <p:nvPr/>
        </p:nvGrpSpPr>
        <p:grpSpPr>
          <a:xfrm rot="5400000">
            <a:off x="5278090" y="5508239"/>
            <a:ext cx="659289" cy="65928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8AB7E2"/>
            </a:solidFill>
          </p:spPr>
        </p:sp>
        <p:sp>
          <p:nvSpPr>
            <p:cNvPr name="TextBox 35" id="35"/>
            <p:cNvSpPr txBox="true"/>
            <p:nvPr/>
          </p:nvSpPr>
          <p:spPr>
            <a:xfrm>
              <a:off x="203200" y="63500"/>
              <a:ext cx="406400" cy="749300"/>
            </a:xfrm>
            <a:prstGeom prst="rect">
              <a:avLst/>
            </a:prstGeom>
          </p:spPr>
          <p:txBody>
            <a:bodyPr anchor="ctr" rtlCol="false" tIns="50800" lIns="50800" bIns="50800" rIns="50800"/>
            <a:lstStyle/>
            <a:p>
              <a:pPr algn="ctr">
                <a:lnSpc>
                  <a:spcPts val="3079"/>
                </a:lnSpc>
              </a:pPr>
            </a:p>
          </p:txBody>
        </p:sp>
      </p:grpSp>
      <p:grpSp>
        <p:nvGrpSpPr>
          <p:cNvPr name="Group 36" id="36"/>
          <p:cNvGrpSpPr/>
          <p:nvPr/>
        </p:nvGrpSpPr>
        <p:grpSpPr>
          <a:xfrm rot="5400000">
            <a:off x="9243403" y="5508239"/>
            <a:ext cx="659289" cy="65928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8AB7E2"/>
            </a:solidFill>
          </p:spPr>
        </p:sp>
        <p:sp>
          <p:nvSpPr>
            <p:cNvPr name="TextBox 38" id="38"/>
            <p:cNvSpPr txBox="true"/>
            <p:nvPr/>
          </p:nvSpPr>
          <p:spPr>
            <a:xfrm>
              <a:off x="203200" y="63500"/>
              <a:ext cx="406400" cy="749300"/>
            </a:xfrm>
            <a:prstGeom prst="rect">
              <a:avLst/>
            </a:prstGeom>
          </p:spPr>
          <p:txBody>
            <a:bodyPr anchor="ctr" rtlCol="false" tIns="50800" lIns="50800" bIns="50800" rIns="50800"/>
            <a:lstStyle/>
            <a:p>
              <a:pPr algn="ctr">
                <a:lnSpc>
                  <a:spcPts val="3079"/>
                </a:lnSpc>
              </a:pPr>
            </a:p>
          </p:txBody>
        </p:sp>
      </p:grpSp>
      <p:grpSp>
        <p:nvGrpSpPr>
          <p:cNvPr name="Group 39" id="39"/>
          <p:cNvGrpSpPr/>
          <p:nvPr/>
        </p:nvGrpSpPr>
        <p:grpSpPr>
          <a:xfrm rot="5400000">
            <a:off x="13183446" y="5616926"/>
            <a:ext cx="659289" cy="659289"/>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lnTo>
                    <a:pt x="0" y="406400"/>
                  </a:lnTo>
                  <a:lnTo>
                    <a:pt x="203200" y="406400"/>
                  </a:lnTo>
                  <a:lnTo>
                    <a:pt x="203200" y="812800"/>
                  </a:lnTo>
                  <a:lnTo>
                    <a:pt x="609600" y="812800"/>
                  </a:lnTo>
                  <a:lnTo>
                    <a:pt x="609600" y="406400"/>
                  </a:lnTo>
                  <a:lnTo>
                    <a:pt x="812800" y="406400"/>
                  </a:lnTo>
                  <a:lnTo>
                    <a:pt x="406400" y="0"/>
                  </a:lnTo>
                  <a:close/>
                </a:path>
              </a:pathLst>
            </a:custGeom>
            <a:solidFill>
              <a:srgbClr val="8AB7E2"/>
            </a:solidFill>
          </p:spPr>
        </p:sp>
        <p:sp>
          <p:nvSpPr>
            <p:cNvPr name="TextBox 41" id="41"/>
            <p:cNvSpPr txBox="true"/>
            <p:nvPr/>
          </p:nvSpPr>
          <p:spPr>
            <a:xfrm>
              <a:off x="203200" y="63500"/>
              <a:ext cx="406400" cy="749300"/>
            </a:xfrm>
            <a:prstGeom prst="rect">
              <a:avLst/>
            </a:prstGeom>
          </p:spPr>
          <p:txBody>
            <a:bodyPr anchor="ctr" rtlCol="false" tIns="50800" lIns="50800" bIns="50800" rIns="50800"/>
            <a:lstStyle/>
            <a:p>
              <a:pPr algn="ctr">
                <a:lnSpc>
                  <a:spcPts val="3079"/>
                </a:lnSpc>
              </a:pPr>
            </a:p>
          </p:txBody>
        </p:sp>
      </p:gr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817316" y="4436598"/>
            <a:ext cx="2815536" cy="1679083"/>
          </a:xfrm>
          <a:custGeom>
            <a:avLst/>
            <a:gdLst/>
            <a:ahLst/>
            <a:cxnLst/>
            <a:rect r="r" b="b" t="t" l="l"/>
            <a:pathLst>
              <a:path h="1679083" w="2815536">
                <a:moveTo>
                  <a:pt x="0" y="0"/>
                </a:moveTo>
                <a:lnTo>
                  <a:pt x="2815536" y="0"/>
                </a:lnTo>
                <a:lnTo>
                  <a:pt x="2815536" y="1679083"/>
                </a:lnTo>
                <a:lnTo>
                  <a:pt x="0" y="1679083"/>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7907772" y="4480703"/>
            <a:ext cx="1644546" cy="1864949"/>
          </a:xfrm>
          <a:custGeom>
            <a:avLst/>
            <a:gdLst/>
            <a:ahLst/>
            <a:cxnLst/>
            <a:rect r="r" b="b" t="t" l="l"/>
            <a:pathLst>
              <a:path h="1864949" w="1644546">
                <a:moveTo>
                  <a:pt x="0" y="0"/>
                </a:moveTo>
                <a:lnTo>
                  <a:pt x="1644545" y="0"/>
                </a:lnTo>
                <a:lnTo>
                  <a:pt x="1644545" y="1864949"/>
                </a:lnTo>
                <a:lnTo>
                  <a:pt x="0" y="1864949"/>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TextBox 17" id="17"/>
          <p:cNvSpPr txBox="true"/>
          <p:nvPr/>
        </p:nvSpPr>
        <p:spPr>
          <a:xfrm rot="0">
            <a:off x="0" y="1429521"/>
            <a:ext cx="7361523"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III. Phân tích hệ thống</a:t>
            </a:r>
          </a:p>
        </p:txBody>
      </p:sp>
      <p:sp>
        <p:nvSpPr>
          <p:cNvPr name="TextBox 18" id="18"/>
          <p:cNvSpPr txBox="true"/>
          <p:nvPr/>
        </p:nvSpPr>
        <p:spPr>
          <a:xfrm rot="0">
            <a:off x="912854" y="2629678"/>
            <a:ext cx="9218057"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2. Phân tích luồng (Đồng bộ nước đi)</a:t>
            </a:r>
          </a:p>
        </p:txBody>
      </p:sp>
      <p:sp>
        <p:nvSpPr>
          <p:cNvPr name="Freeform 19" id="19"/>
          <p:cNvSpPr/>
          <p:nvPr/>
        </p:nvSpPr>
        <p:spPr>
          <a:xfrm flipH="false" flipV="false" rot="0">
            <a:off x="12446347" y="4480703"/>
            <a:ext cx="2815536" cy="1679083"/>
          </a:xfrm>
          <a:custGeom>
            <a:avLst/>
            <a:gdLst/>
            <a:ahLst/>
            <a:cxnLst/>
            <a:rect r="r" b="b" t="t" l="l"/>
            <a:pathLst>
              <a:path h="1679083" w="2815536">
                <a:moveTo>
                  <a:pt x="0" y="0"/>
                </a:moveTo>
                <a:lnTo>
                  <a:pt x="2815536" y="0"/>
                </a:lnTo>
                <a:lnTo>
                  <a:pt x="2815536" y="1679083"/>
                </a:lnTo>
                <a:lnTo>
                  <a:pt x="0" y="1679083"/>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AutoShape 20" id="20"/>
          <p:cNvSpPr/>
          <p:nvPr/>
        </p:nvSpPr>
        <p:spPr>
          <a:xfrm>
            <a:off x="4990571" y="5143500"/>
            <a:ext cx="2665432" cy="0"/>
          </a:xfrm>
          <a:prstGeom prst="line">
            <a:avLst/>
          </a:prstGeom>
          <a:ln cap="flat" w="38100">
            <a:solidFill>
              <a:srgbClr val="000000"/>
            </a:solidFill>
            <a:prstDash val="solid"/>
            <a:headEnd type="none" len="sm" w="sm"/>
            <a:tailEnd type="arrow" len="sm" w="med"/>
          </a:ln>
        </p:spPr>
      </p:sp>
      <p:sp>
        <p:nvSpPr>
          <p:cNvPr name="AutoShape 21" id="21"/>
          <p:cNvSpPr/>
          <p:nvPr/>
        </p:nvSpPr>
        <p:spPr>
          <a:xfrm>
            <a:off x="9843216" y="5143500"/>
            <a:ext cx="2333855" cy="0"/>
          </a:xfrm>
          <a:prstGeom prst="line">
            <a:avLst/>
          </a:prstGeom>
          <a:ln cap="flat" w="38100">
            <a:solidFill>
              <a:srgbClr val="000000"/>
            </a:solidFill>
            <a:prstDash val="solid"/>
            <a:headEnd type="none" len="sm" w="sm"/>
            <a:tailEnd type="arrow" len="sm" w="med"/>
          </a:ln>
        </p:spPr>
      </p:sp>
      <p:sp>
        <p:nvSpPr>
          <p:cNvPr name="TextBox 22" id="22"/>
          <p:cNvSpPr txBox="true"/>
          <p:nvPr/>
        </p:nvSpPr>
        <p:spPr>
          <a:xfrm rot="0">
            <a:off x="4795256" y="4035913"/>
            <a:ext cx="2700266" cy="763270"/>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Gửi sư kiện send-move</a:t>
            </a:r>
          </a:p>
        </p:txBody>
      </p:sp>
      <p:sp>
        <p:nvSpPr>
          <p:cNvPr name="TextBox 23" id="23"/>
          <p:cNvSpPr txBox="true"/>
          <p:nvPr/>
        </p:nvSpPr>
        <p:spPr>
          <a:xfrm rot="0">
            <a:off x="1686576" y="6487156"/>
            <a:ext cx="2700266" cy="3727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Client A</a:t>
            </a:r>
          </a:p>
        </p:txBody>
      </p:sp>
      <p:sp>
        <p:nvSpPr>
          <p:cNvPr name="TextBox 24" id="24"/>
          <p:cNvSpPr txBox="true"/>
          <p:nvPr/>
        </p:nvSpPr>
        <p:spPr>
          <a:xfrm rot="0">
            <a:off x="12988580" y="6487156"/>
            <a:ext cx="1005721" cy="3727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Client B</a:t>
            </a:r>
          </a:p>
        </p:txBody>
      </p:sp>
      <p:sp>
        <p:nvSpPr>
          <p:cNvPr name="Freeform 25" id="25"/>
          <p:cNvSpPr/>
          <p:nvPr/>
        </p:nvSpPr>
        <p:spPr>
          <a:xfrm>
            <a:off x="8265468" y="3629790"/>
            <a:ext cx="1381438" cy="968308"/>
          </a:xfrm>
          <a:custGeom>
            <a:avLst/>
            <a:gdLst/>
            <a:ahLst/>
            <a:cxnLst/>
            <a:rect r="r" b="b" t="t" l="l"/>
            <a:pathLst>
              <a:path h="968308" w="1381438">
                <a:moveTo>
                  <a:pt x="0" y="806808"/>
                </a:moveTo>
                <a:quadBezTo>
                  <a:pt x="1021742" y="-883877"/>
                  <a:pt x="1381438" y="968309"/>
                </a:quadBezTo>
              </a:path>
            </a:pathLst>
          </a:custGeom>
          <a:ln cap="flat" w="38100">
            <a:solidFill>
              <a:srgbClr val="000000"/>
            </a:solidFill>
            <a:prstDash val="solid"/>
            <a:headEnd type="arrow" len="sm" w="med"/>
            <a:tailEnd type="none" len="sm" w="sm"/>
          </a:ln>
        </p:spPr>
      </p:sp>
      <p:sp>
        <p:nvSpPr>
          <p:cNvPr name="TextBox 26" id="26"/>
          <p:cNvSpPr txBox="true"/>
          <p:nvPr/>
        </p:nvSpPr>
        <p:spPr>
          <a:xfrm rot="0">
            <a:off x="9552317" y="3477980"/>
            <a:ext cx="2831425" cy="3727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Ghi đè cache lên RAM</a:t>
            </a:r>
          </a:p>
        </p:txBody>
      </p:sp>
      <p:sp>
        <p:nvSpPr>
          <p:cNvPr name="TextBox 27" id="27"/>
          <p:cNvSpPr txBox="true"/>
          <p:nvPr/>
        </p:nvSpPr>
        <p:spPr>
          <a:xfrm rot="0">
            <a:off x="9678704" y="5396516"/>
            <a:ext cx="2641256" cy="763270"/>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Gửi sư kiện receive-move</a:t>
            </a:r>
          </a:p>
        </p:txBody>
      </p:sp>
      <p:sp>
        <p:nvSpPr>
          <p:cNvPr name="Freeform 28" id="28"/>
          <p:cNvSpPr/>
          <p:nvPr/>
        </p:nvSpPr>
        <p:spPr>
          <a:xfrm>
            <a:off x="12801533" y="6196220"/>
            <a:ext cx="689907" cy="1417355"/>
          </a:xfrm>
          <a:custGeom>
            <a:avLst/>
            <a:gdLst/>
            <a:ahLst/>
            <a:cxnLst/>
            <a:rect r="r" b="b" t="t" l="l"/>
            <a:pathLst>
              <a:path h="1417355" w="689907">
                <a:moveTo>
                  <a:pt x="0" y="0"/>
                </a:moveTo>
                <a:lnTo>
                  <a:pt x="0" y="1188756"/>
                </a:lnTo>
                <a:cubicBezTo>
                  <a:pt x="0" y="1249384"/>
                  <a:pt x="24085" y="1307530"/>
                  <a:pt x="66956" y="1350400"/>
                </a:cubicBezTo>
                <a:cubicBezTo>
                  <a:pt x="109827" y="1393271"/>
                  <a:pt x="167972" y="1417356"/>
                  <a:pt x="228600" y="1417356"/>
                </a:cubicBezTo>
                <a:lnTo>
                  <a:pt x="461307" y="1417356"/>
                </a:lnTo>
                <a:cubicBezTo>
                  <a:pt x="587560" y="1417356"/>
                  <a:pt x="689907" y="1315008"/>
                  <a:pt x="689907" y="1188756"/>
                </a:cubicBezTo>
                <a:lnTo>
                  <a:pt x="689907" y="663681"/>
                </a:lnTo>
              </a:path>
            </a:pathLst>
          </a:custGeom>
          <a:ln cap="flat" w="38100">
            <a:solidFill>
              <a:srgbClr val="000000"/>
            </a:solidFill>
            <a:prstDash val="solid"/>
            <a:headEnd type="arrow" len="sm" w="med"/>
            <a:tailEnd type="none" len="sm" w="sm"/>
          </a:ln>
        </p:spPr>
      </p:sp>
      <p:sp>
        <p:nvSpPr>
          <p:cNvPr name="TextBox 29" id="29"/>
          <p:cNvSpPr txBox="true"/>
          <p:nvPr/>
        </p:nvSpPr>
        <p:spPr>
          <a:xfrm rot="0">
            <a:off x="12045648" y="7870750"/>
            <a:ext cx="2169557" cy="3727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UI vẽ lại quân cờ</a:t>
            </a:r>
          </a:p>
        </p:txBody>
      </p:sp>
      <p:sp>
        <p:nvSpPr>
          <p:cNvPr name="TextBox 30" id="30"/>
          <p:cNvSpPr txBox="true"/>
          <p:nvPr/>
        </p:nvSpPr>
        <p:spPr>
          <a:xfrm rot="0">
            <a:off x="8091488" y="6654478"/>
            <a:ext cx="1102281" cy="3727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Noto Sans"/>
                <a:ea typeface="Noto Sans"/>
                <a:cs typeface="Noto Sans"/>
                <a:sym typeface="Noto Sans"/>
              </a:rPr>
              <a:t>server.js</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0" y="1429521"/>
            <a:ext cx="7361523"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III. Phân tích hệ thống</a:t>
            </a:r>
          </a:p>
        </p:txBody>
      </p:sp>
      <p:sp>
        <p:nvSpPr>
          <p:cNvPr name="TextBox 16" id="16"/>
          <p:cNvSpPr txBox="true"/>
          <p:nvPr/>
        </p:nvSpPr>
        <p:spPr>
          <a:xfrm rot="0">
            <a:off x="912854" y="2629678"/>
            <a:ext cx="9547860"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2. Phân tích luồng (Xử lý ngắt kết nối)</a:t>
            </a:r>
          </a:p>
        </p:txBody>
      </p:sp>
      <p:grpSp>
        <p:nvGrpSpPr>
          <p:cNvPr name="Group 17" id="17"/>
          <p:cNvGrpSpPr/>
          <p:nvPr/>
        </p:nvGrpSpPr>
        <p:grpSpPr>
          <a:xfrm rot="0">
            <a:off x="6307535" y="3442443"/>
            <a:ext cx="5308668" cy="1432714"/>
            <a:chOff x="0" y="0"/>
            <a:chExt cx="1398168" cy="377340"/>
          </a:xfrm>
        </p:grpSpPr>
        <p:sp>
          <p:nvSpPr>
            <p:cNvPr name="Freeform 18" id="18"/>
            <p:cNvSpPr/>
            <p:nvPr/>
          </p:nvSpPr>
          <p:spPr>
            <a:xfrm flipH="false" flipV="false" rot="0">
              <a:off x="0" y="0"/>
              <a:ext cx="1398168" cy="377340"/>
            </a:xfrm>
            <a:custGeom>
              <a:avLst/>
              <a:gdLst/>
              <a:ahLst/>
              <a:cxnLst/>
              <a:rect r="r" b="b" t="t" l="l"/>
              <a:pathLst>
                <a:path h="377340" w="1398168">
                  <a:moveTo>
                    <a:pt x="0" y="0"/>
                  </a:moveTo>
                  <a:lnTo>
                    <a:pt x="1398168" y="0"/>
                  </a:lnTo>
                  <a:lnTo>
                    <a:pt x="1398168" y="377340"/>
                  </a:lnTo>
                  <a:lnTo>
                    <a:pt x="0" y="377340"/>
                  </a:lnTo>
                  <a:close/>
                </a:path>
              </a:pathLst>
            </a:custGeom>
            <a:solidFill>
              <a:srgbClr val="8AB7E2"/>
            </a:solidFill>
          </p:spPr>
        </p:sp>
        <p:sp>
          <p:nvSpPr>
            <p:cNvPr name="TextBox 19" id="19"/>
            <p:cNvSpPr txBox="true"/>
            <p:nvPr/>
          </p:nvSpPr>
          <p:spPr>
            <a:xfrm>
              <a:off x="0" y="-38100"/>
              <a:ext cx="1398168" cy="41544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Người chơi thoát trận giữa chừng. Tự động đếm ngược 60s</a:t>
              </a:r>
            </a:p>
          </p:txBody>
        </p:sp>
      </p:grpSp>
      <p:grpSp>
        <p:nvGrpSpPr>
          <p:cNvPr name="Group 20" id="20"/>
          <p:cNvGrpSpPr/>
          <p:nvPr/>
        </p:nvGrpSpPr>
        <p:grpSpPr>
          <a:xfrm rot="0">
            <a:off x="2760944" y="5195078"/>
            <a:ext cx="3086100" cy="1432714"/>
            <a:chOff x="0" y="0"/>
            <a:chExt cx="812800" cy="377340"/>
          </a:xfrm>
        </p:grpSpPr>
        <p:sp>
          <p:nvSpPr>
            <p:cNvPr name="Freeform 21" id="21"/>
            <p:cNvSpPr/>
            <p:nvPr/>
          </p:nvSpPr>
          <p:spPr>
            <a:xfrm flipH="false" flipV="false" rot="0">
              <a:off x="0" y="0"/>
              <a:ext cx="812800" cy="377340"/>
            </a:xfrm>
            <a:custGeom>
              <a:avLst/>
              <a:gdLst/>
              <a:ahLst/>
              <a:cxnLst/>
              <a:rect r="r" b="b" t="t" l="l"/>
              <a:pathLst>
                <a:path h="377340" w="812800">
                  <a:moveTo>
                    <a:pt x="0" y="0"/>
                  </a:moveTo>
                  <a:lnTo>
                    <a:pt x="812800" y="0"/>
                  </a:lnTo>
                  <a:lnTo>
                    <a:pt x="812800" y="377340"/>
                  </a:lnTo>
                  <a:lnTo>
                    <a:pt x="0" y="377340"/>
                  </a:lnTo>
                  <a:close/>
                </a:path>
              </a:pathLst>
            </a:custGeom>
            <a:solidFill>
              <a:srgbClr val="8AB7E2"/>
            </a:solidFill>
          </p:spPr>
        </p:sp>
        <p:sp>
          <p:nvSpPr>
            <p:cNvPr name="TextBox 22" id="22"/>
            <p:cNvSpPr txBox="true"/>
            <p:nvPr/>
          </p:nvSpPr>
          <p:spPr>
            <a:xfrm>
              <a:off x="0" y="-38100"/>
              <a:ext cx="812800" cy="41544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Khôi phục &lt; 60s</a:t>
              </a:r>
            </a:p>
          </p:txBody>
        </p:sp>
      </p:grpSp>
      <p:grpSp>
        <p:nvGrpSpPr>
          <p:cNvPr name="Group 23" id="23"/>
          <p:cNvGrpSpPr/>
          <p:nvPr/>
        </p:nvGrpSpPr>
        <p:grpSpPr>
          <a:xfrm rot="0">
            <a:off x="12014013" y="5195078"/>
            <a:ext cx="3086100" cy="1432714"/>
            <a:chOff x="0" y="0"/>
            <a:chExt cx="812800" cy="377340"/>
          </a:xfrm>
        </p:grpSpPr>
        <p:sp>
          <p:nvSpPr>
            <p:cNvPr name="Freeform 24" id="24"/>
            <p:cNvSpPr/>
            <p:nvPr/>
          </p:nvSpPr>
          <p:spPr>
            <a:xfrm flipH="false" flipV="false" rot="0">
              <a:off x="0" y="0"/>
              <a:ext cx="812800" cy="377340"/>
            </a:xfrm>
            <a:custGeom>
              <a:avLst/>
              <a:gdLst/>
              <a:ahLst/>
              <a:cxnLst/>
              <a:rect r="r" b="b" t="t" l="l"/>
              <a:pathLst>
                <a:path h="377340" w="812800">
                  <a:moveTo>
                    <a:pt x="0" y="0"/>
                  </a:moveTo>
                  <a:lnTo>
                    <a:pt x="812800" y="0"/>
                  </a:lnTo>
                  <a:lnTo>
                    <a:pt x="812800" y="377340"/>
                  </a:lnTo>
                  <a:lnTo>
                    <a:pt x="0" y="377340"/>
                  </a:lnTo>
                  <a:close/>
                </a:path>
              </a:pathLst>
            </a:custGeom>
            <a:solidFill>
              <a:srgbClr val="8AB7E2"/>
            </a:solidFill>
          </p:spPr>
        </p:sp>
        <p:sp>
          <p:nvSpPr>
            <p:cNvPr name="TextBox 25" id="25"/>
            <p:cNvSpPr txBox="true"/>
            <p:nvPr/>
          </p:nvSpPr>
          <p:spPr>
            <a:xfrm>
              <a:off x="0" y="-38100"/>
              <a:ext cx="812800" cy="41544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Hết hạn &gt; 60s</a:t>
              </a:r>
            </a:p>
          </p:txBody>
        </p:sp>
      </p:grpSp>
      <p:grpSp>
        <p:nvGrpSpPr>
          <p:cNvPr name="Group 26" id="26"/>
          <p:cNvGrpSpPr/>
          <p:nvPr/>
        </p:nvGrpSpPr>
        <p:grpSpPr>
          <a:xfrm rot="0">
            <a:off x="2760944" y="7434109"/>
            <a:ext cx="3086100" cy="1432714"/>
            <a:chOff x="0" y="0"/>
            <a:chExt cx="812800" cy="377340"/>
          </a:xfrm>
        </p:grpSpPr>
        <p:sp>
          <p:nvSpPr>
            <p:cNvPr name="Freeform 27" id="27"/>
            <p:cNvSpPr/>
            <p:nvPr/>
          </p:nvSpPr>
          <p:spPr>
            <a:xfrm flipH="false" flipV="false" rot="0">
              <a:off x="0" y="0"/>
              <a:ext cx="812800" cy="377340"/>
            </a:xfrm>
            <a:custGeom>
              <a:avLst/>
              <a:gdLst/>
              <a:ahLst/>
              <a:cxnLst/>
              <a:rect r="r" b="b" t="t" l="l"/>
              <a:pathLst>
                <a:path h="377340" w="812800">
                  <a:moveTo>
                    <a:pt x="0" y="0"/>
                  </a:moveTo>
                  <a:lnTo>
                    <a:pt x="812800" y="0"/>
                  </a:lnTo>
                  <a:lnTo>
                    <a:pt x="812800" y="377340"/>
                  </a:lnTo>
                  <a:lnTo>
                    <a:pt x="0" y="377340"/>
                  </a:lnTo>
                  <a:close/>
                </a:path>
              </a:pathLst>
            </a:custGeom>
            <a:solidFill>
              <a:srgbClr val="8AB7E2"/>
            </a:solidFill>
          </p:spPr>
        </p:sp>
        <p:sp>
          <p:nvSpPr>
            <p:cNvPr name="TextBox 28" id="28"/>
            <p:cNvSpPr txBox="true"/>
            <p:nvPr/>
          </p:nvSpPr>
          <p:spPr>
            <a:xfrm>
              <a:off x="0" y="-38100"/>
              <a:ext cx="812800" cy="41544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Đồng bộ bàn cờ từ RAM. Trận đấu tiếp diễn</a:t>
              </a:r>
            </a:p>
          </p:txBody>
        </p:sp>
      </p:grpSp>
      <p:grpSp>
        <p:nvGrpSpPr>
          <p:cNvPr name="Group 29" id="29"/>
          <p:cNvGrpSpPr/>
          <p:nvPr/>
        </p:nvGrpSpPr>
        <p:grpSpPr>
          <a:xfrm rot="0">
            <a:off x="12014013" y="7434109"/>
            <a:ext cx="3086100" cy="1432714"/>
            <a:chOff x="0" y="0"/>
            <a:chExt cx="812800" cy="377340"/>
          </a:xfrm>
        </p:grpSpPr>
        <p:sp>
          <p:nvSpPr>
            <p:cNvPr name="Freeform 30" id="30"/>
            <p:cNvSpPr/>
            <p:nvPr/>
          </p:nvSpPr>
          <p:spPr>
            <a:xfrm flipH="false" flipV="false" rot="0">
              <a:off x="0" y="0"/>
              <a:ext cx="812800" cy="377340"/>
            </a:xfrm>
            <a:custGeom>
              <a:avLst/>
              <a:gdLst/>
              <a:ahLst/>
              <a:cxnLst/>
              <a:rect r="r" b="b" t="t" l="l"/>
              <a:pathLst>
                <a:path h="377340" w="812800">
                  <a:moveTo>
                    <a:pt x="0" y="0"/>
                  </a:moveTo>
                  <a:lnTo>
                    <a:pt x="812800" y="0"/>
                  </a:lnTo>
                  <a:lnTo>
                    <a:pt x="812800" y="377340"/>
                  </a:lnTo>
                  <a:lnTo>
                    <a:pt x="0" y="377340"/>
                  </a:lnTo>
                  <a:close/>
                </a:path>
              </a:pathLst>
            </a:custGeom>
            <a:solidFill>
              <a:srgbClr val="8AB7E2"/>
            </a:solidFill>
          </p:spPr>
        </p:sp>
        <p:sp>
          <p:nvSpPr>
            <p:cNvPr name="TextBox 31" id="31"/>
            <p:cNvSpPr txBox="true"/>
            <p:nvPr/>
          </p:nvSpPr>
          <p:spPr>
            <a:xfrm>
              <a:off x="0" y="-38100"/>
              <a:ext cx="812800" cy="415440"/>
            </a:xfrm>
            <a:prstGeom prst="rect">
              <a:avLst/>
            </a:prstGeom>
          </p:spPr>
          <p:txBody>
            <a:bodyPr anchor="ctr" rtlCol="false" tIns="50800" lIns="50800" bIns="50800" rIns="50800"/>
            <a:lstStyle/>
            <a:p>
              <a:pPr algn="ctr">
                <a:lnSpc>
                  <a:spcPts val="3079"/>
                </a:lnSpc>
              </a:pPr>
              <a:r>
                <a:rPr lang="en-US" sz="2199">
                  <a:solidFill>
                    <a:srgbClr val="000000"/>
                  </a:solidFill>
                  <a:latin typeface="Noto Sans"/>
                  <a:ea typeface="Noto Sans"/>
                  <a:cs typeface="Noto Sans"/>
                  <a:sym typeface="Noto Sans"/>
                </a:rPr>
                <a:t>Xử thua</a:t>
              </a:r>
            </a:p>
          </p:txBody>
        </p:sp>
      </p:grpSp>
      <p:sp>
        <p:nvSpPr>
          <p:cNvPr name="Freeform 32" id="32"/>
          <p:cNvSpPr/>
          <p:nvPr/>
        </p:nvSpPr>
        <p:spPr>
          <a:xfrm>
            <a:off x="5847044" y="4875157"/>
            <a:ext cx="3114825" cy="1036278"/>
          </a:xfrm>
          <a:custGeom>
            <a:avLst/>
            <a:gdLst/>
            <a:ahLst/>
            <a:cxnLst/>
            <a:rect r="r" b="b" t="t" l="l"/>
            <a:pathLst>
              <a:path h="1036278" w="3114825">
                <a:moveTo>
                  <a:pt x="3114825" y="0"/>
                </a:moveTo>
                <a:lnTo>
                  <a:pt x="3114825" y="807678"/>
                </a:lnTo>
                <a:cubicBezTo>
                  <a:pt x="3114825" y="933930"/>
                  <a:pt x="3012477" y="1036278"/>
                  <a:pt x="2886225" y="1036278"/>
                </a:cubicBezTo>
                <a:lnTo>
                  <a:pt x="0" y="1036278"/>
                </a:lnTo>
              </a:path>
            </a:pathLst>
          </a:custGeom>
          <a:ln cap="flat" w="38100">
            <a:solidFill>
              <a:srgbClr val="000000"/>
            </a:solidFill>
            <a:prstDash val="solid"/>
            <a:headEnd type="none" len="sm" w="sm"/>
            <a:tailEnd type="none" len="sm" w="sm"/>
          </a:ln>
        </p:spPr>
      </p:sp>
      <p:sp>
        <p:nvSpPr>
          <p:cNvPr name="Freeform 33" id="33"/>
          <p:cNvSpPr/>
          <p:nvPr/>
        </p:nvSpPr>
        <p:spPr>
          <a:xfrm>
            <a:off x="8961869" y="4875157"/>
            <a:ext cx="3052143" cy="1036278"/>
          </a:xfrm>
          <a:custGeom>
            <a:avLst/>
            <a:gdLst/>
            <a:ahLst/>
            <a:cxnLst/>
            <a:rect r="r" b="b" t="t" l="l"/>
            <a:pathLst>
              <a:path h="1036278" w="3052143">
                <a:moveTo>
                  <a:pt x="0" y="0"/>
                </a:moveTo>
                <a:lnTo>
                  <a:pt x="0" y="807678"/>
                </a:lnTo>
                <a:cubicBezTo>
                  <a:pt x="0" y="933930"/>
                  <a:pt x="102348" y="1036278"/>
                  <a:pt x="228600" y="1036278"/>
                </a:cubicBezTo>
                <a:lnTo>
                  <a:pt x="3052143" y="1036278"/>
                </a:lnTo>
              </a:path>
            </a:pathLst>
          </a:custGeom>
          <a:ln cap="flat" w="38100">
            <a:solidFill>
              <a:srgbClr val="000000"/>
            </a:solidFill>
            <a:prstDash val="solid"/>
            <a:headEnd type="none" len="sm" w="sm"/>
            <a:tailEnd type="none" len="sm" w="sm"/>
          </a:ln>
        </p:spPr>
      </p:sp>
      <p:sp>
        <p:nvSpPr>
          <p:cNvPr name="AutoShape 34" id="34"/>
          <p:cNvSpPr/>
          <p:nvPr/>
        </p:nvSpPr>
        <p:spPr>
          <a:xfrm flipV="true">
            <a:off x="4303994" y="6627792"/>
            <a:ext cx="0" cy="806317"/>
          </a:xfrm>
          <a:prstGeom prst="line">
            <a:avLst/>
          </a:prstGeom>
          <a:ln cap="flat" w="38100">
            <a:solidFill>
              <a:srgbClr val="000000"/>
            </a:solidFill>
            <a:prstDash val="solid"/>
            <a:headEnd type="none" len="sm" w="sm"/>
            <a:tailEnd type="none" len="sm" w="sm"/>
          </a:ln>
        </p:spPr>
      </p:sp>
      <p:sp>
        <p:nvSpPr>
          <p:cNvPr name="AutoShape 35" id="35"/>
          <p:cNvSpPr/>
          <p:nvPr/>
        </p:nvSpPr>
        <p:spPr>
          <a:xfrm flipV="true">
            <a:off x="13557063" y="6627792"/>
            <a:ext cx="0" cy="806317"/>
          </a:xfrm>
          <a:prstGeom prst="line">
            <a:avLst/>
          </a:prstGeom>
          <a:ln cap="flat" w="38100">
            <a:solidFill>
              <a:srgbClr val="000000"/>
            </a:solidFill>
            <a:prstDash val="solid"/>
            <a:headEnd type="none" len="sm" w="sm"/>
            <a:tailEnd type="none" len="sm" w="sm"/>
          </a:ln>
        </p:spPr>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912854" y="1429521"/>
            <a:ext cx="4236066"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III. Kết luận</a:t>
            </a:r>
          </a:p>
        </p:txBody>
      </p:sp>
      <p:sp>
        <p:nvSpPr>
          <p:cNvPr name="TextBox 16" id="16"/>
          <p:cNvSpPr txBox="true"/>
          <p:nvPr/>
        </p:nvSpPr>
        <p:spPr>
          <a:xfrm rot="0">
            <a:off x="912854" y="2629678"/>
            <a:ext cx="4961692"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1. Kết quả đạt được</a:t>
            </a:r>
          </a:p>
        </p:txBody>
      </p:sp>
      <p:sp>
        <p:nvSpPr>
          <p:cNvPr name="TextBox 17" id="17"/>
          <p:cNvSpPr txBox="true"/>
          <p:nvPr/>
        </p:nvSpPr>
        <p:spPr>
          <a:xfrm rot="0">
            <a:off x="912854" y="3623453"/>
            <a:ext cx="16181103" cy="4692017"/>
          </a:xfrm>
          <a:prstGeom prst="rect">
            <a:avLst/>
          </a:prstGeom>
        </p:spPr>
        <p:txBody>
          <a:bodyPr anchor="t" rtlCol="false" tIns="0" lIns="0" bIns="0" rIns="0">
            <a:spAutoFit/>
          </a:bodyPr>
          <a:lstStyle/>
          <a:p>
            <a:pPr algn="l">
              <a:lnSpc>
                <a:spcPts val="5399"/>
              </a:lnSpc>
            </a:pPr>
            <a:r>
              <a:rPr lang="en-US" sz="3599">
                <a:solidFill>
                  <a:srgbClr val="000000"/>
                </a:solidFill>
                <a:latin typeface="Noto Sans"/>
                <a:ea typeface="Noto Sans"/>
                <a:cs typeface="Noto Sans"/>
                <a:sym typeface="Noto Sans"/>
              </a:rPr>
              <a:t>- Về mặt giao diện và tương tác: Xây dựng thành công giao diện thi đấu trực quan, thân thiện. </a:t>
            </a:r>
          </a:p>
          <a:p>
            <a:pPr algn="l">
              <a:lnSpc>
                <a:spcPts val="5399"/>
              </a:lnSpc>
            </a:pPr>
          </a:p>
          <a:p>
            <a:pPr algn="l">
              <a:lnSpc>
                <a:spcPts val="5399"/>
              </a:lnSpc>
            </a:pPr>
            <a:r>
              <a:rPr lang="en-US" sz="3599">
                <a:solidFill>
                  <a:srgbClr val="000000"/>
                </a:solidFill>
                <a:latin typeface="Noto Sans"/>
                <a:ea typeface="Noto Sans"/>
                <a:cs typeface="Noto Sans"/>
                <a:sym typeface="Noto Sans"/>
              </a:rPr>
              <a:t>- Về mặt xử lý thời gian thực: Các luồng nghiệp vụ phức tạp như ghép trận ngẫu nhiên, gửi lời mời thách đấu và đếm ngược thời gian khi mất kết nối mạng đều được xử lý chính xác với độ trễ tối thiểu.</a:t>
            </a:r>
          </a:p>
          <a:p>
            <a:pPr algn="l">
              <a:lnSpc>
                <a:spcPts val="5399"/>
              </a:lnSpc>
            </a:pP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912854" y="1429521"/>
            <a:ext cx="4236066"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Noto Sans Bold"/>
                <a:ea typeface="Noto Sans Bold"/>
                <a:cs typeface="Noto Sans Bold"/>
                <a:sym typeface="Noto Sans Bold"/>
              </a:rPr>
              <a:t>III. Kết luận</a:t>
            </a:r>
          </a:p>
        </p:txBody>
      </p:sp>
      <p:sp>
        <p:nvSpPr>
          <p:cNvPr name="TextBox 16" id="16"/>
          <p:cNvSpPr txBox="true"/>
          <p:nvPr/>
        </p:nvSpPr>
        <p:spPr>
          <a:xfrm rot="0">
            <a:off x="912854" y="2629678"/>
            <a:ext cx="2623661" cy="679450"/>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Noto Sans Bold"/>
                <a:ea typeface="Noto Sans Bold"/>
                <a:cs typeface="Noto Sans Bold"/>
                <a:sym typeface="Noto Sans Bold"/>
              </a:rPr>
              <a:t>2. Hạn chế</a:t>
            </a:r>
          </a:p>
        </p:txBody>
      </p:sp>
      <p:sp>
        <p:nvSpPr>
          <p:cNvPr name="TextBox 17" id="17"/>
          <p:cNvSpPr txBox="true"/>
          <p:nvPr/>
        </p:nvSpPr>
        <p:spPr>
          <a:xfrm rot="0">
            <a:off x="912854" y="3623453"/>
            <a:ext cx="16181103" cy="6044567"/>
          </a:xfrm>
          <a:prstGeom prst="rect">
            <a:avLst/>
          </a:prstGeom>
        </p:spPr>
        <p:txBody>
          <a:bodyPr anchor="t" rtlCol="false" tIns="0" lIns="0" bIns="0" rIns="0">
            <a:spAutoFit/>
          </a:bodyPr>
          <a:lstStyle/>
          <a:p>
            <a:pPr algn="l">
              <a:lnSpc>
                <a:spcPts val="5399"/>
              </a:lnSpc>
            </a:pPr>
            <a:r>
              <a:rPr lang="en-US" sz="3599">
                <a:solidFill>
                  <a:srgbClr val="000000"/>
                </a:solidFill>
                <a:latin typeface="Noto Sans"/>
                <a:ea typeface="Noto Sans"/>
                <a:cs typeface="Noto Sans"/>
                <a:sym typeface="Noto Sans"/>
              </a:rPr>
              <a:t>-Khả năng chịu tải của hệ thống: Máy chủ xử lý kết nối mạng hiện đang hoạt động trên một luồng duy nhất. Trong trường hợp có hàng nghìn người chơi đồng thời truy cập và thao tác quân cờ, hệ thống có khả năng gặp hiện tượng thắt nút cổ chai dẫn đến tình trạng quá tải hoặc mất đồng bộ.</a:t>
            </a:r>
          </a:p>
          <a:p>
            <a:pPr algn="l">
              <a:lnSpc>
                <a:spcPts val="5399"/>
              </a:lnSpc>
            </a:pPr>
            <a:r>
              <a:rPr lang="en-US" sz="3599">
                <a:solidFill>
                  <a:srgbClr val="000000"/>
                </a:solidFill>
                <a:latin typeface="Noto Sans"/>
                <a:ea typeface="Noto Sans"/>
                <a:cs typeface="Noto Sans"/>
                <a:sym typeface="Noto Sans"/>
              </a:rPr>
              <a:t>-Chức năng cộng đồng còn giới hạn: Hệ thống hiện chỉ tập trung vào trải nghiệm thi đấu đối kháng thuần túy, chưa có các không gian tương tác mở cho người dùng.</a:t>
            </a:r>
          </a:p>
          <a:p>
            <a:pPr algn="l">
              <a:lnSpc>
                <a:spcPts val="5399"/>
              </a:lnSpc>
            </a:pP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DAHNXqI0hxQ</dc:identifier>
  <dcterms:modified xsi:type="dcterms:W3CDTF">2011-08-01T06:04:30Z</dcterms:modified>
  <cp:revision>1</cp:revision>
  <dc:title>Đề tài: Trang Web chơi cờ vua trực tuyến</dc:title>
</cp:coreProperties>
</file>